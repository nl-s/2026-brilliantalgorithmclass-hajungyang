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004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28700" y="-822960"/>
            <a:ext cx="3200400" cy="32004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0" y="2926080"/>
            <a:ext cx="2926080" cy="292608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1371600" cy="13716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3800" dirty="0">
                <a:solidFill>
                  <a:schemeClr val="bg1"/>
                </a:solidFill>
              </a:rPr>
              <a:t>실전 자구</a:t>
            </a:r>
            <a:r>
              <a:rPr lang="en-US" altLang="ko-KR" sz="3800" dirty="0">
                <a:solidFill>
                  <a:schemeClr val="bg1"/>
                </a:solidFill>
              </a:rPr>
              <a:t>&amp;</a:t>
            </a:r>
            <a:r>
              <a:rPr lang="ko-KR" altLang="en-US" sz="3800" dirty="0">
                <a:solidFill>
                  <a:schemeClr val="bg1"/>
                </a:solidFill>
              </a:rPr>
              <a:t>알고리즘 </a:t>
            </a:r>
            <a:r>
              <a:rPr lang="en-US" altLang="ko-KR" sz="3800" dirty="0">
                <a:solidFill>
                  <a:schemeClr val="bg1"/>
                </a:solidFill>
              </a:rPr>
              <a:t>2</a:t>
            </a:r>
            <a:r>
              <a:rPr lang="ko-KR" altLang="en-US" sz="3800" dirty="0">
                <a:solidFill>
                  <a:schemeClr val="bg1"/>
                </a:solidFill>
              </a:rPr>
              <a:t>주차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Divide &amp; Conquer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9659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9748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Merge Sort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1980" y="254127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01980" y="254127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Binary 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562225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A580C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697480" y="2562225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Two-Pointer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-285750" y="195643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AutoShape 2" descr="OS땅 윈도우11">
            <a:extLst>
              <a:ext uri="{FF2B5EF4-FFF2-40B4-BE49-F238E27FC236}">
                <a16:creationId xmlns:a16="http://schemas.microsoft.com/office/drawing/2014/main" id="{0F9C25DE-24F3-A381-E114-49C7975BB7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AutoShape 4" descr="OS땅 윈도우11">
            <a:extLst>
              <a:ext uri="{FF2B5EF4-FFF2-40B4-BE49-F238E27FC236}">
                <a16:creationId xmlns:a16="http://schemas.microsoft.com/office/drawing/2014/main" id="{7433824D-A66A-2B6D-00C3-45A478036B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1621752"/>
            <a:ext cx="1254798" cy="125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7501DF2-D966-4862-9235-6772B3040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36" t="3129" r="28272"/>
          <a:stretch>
            <a:fillRect/>
          </a:stretch>
        </p:blipFill>
        <p:spPr>
          <a:xfrm rot="931934">
            <a:off x="6365535" y="722326"/>
            <a:ext cx="1728815" cy="38069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📚  오늘 배울 것들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Divide &amp; Conquer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/>
              <a:t>큰 문제를 작게 쪼개서 해결 후</a:t>
            </a:r>
            <a:r>
              <a:rPr lang="en-US" altLang="ko-KR" sz="1150" dirty="0"/>
              <a:t>, </a:t>
            </a:r>
            <a:r>
              <a:rPr lang="ko-KR" altLang="en-US" sz="1150" dirty="0"/>
              <a:t>합침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94360" y="31089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Merge Sort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493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분할정복으로 만든 정렬 알고리즘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846320" y="123444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74920" y="15087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74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1435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Binary Search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18928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/>
              <a:t>정렬된 배열에서 탐색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64008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074920" y="310896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749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Two-Pointer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0" y="3493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두 개의 포인터로 효율적 탐색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</a:rPr>
              <a:t>01  DIVIDE &amp; CONQUER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분할 정복이란?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06040" cy="201168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25880" y="1234440"/>
            <a:ext cx="685800" cy="6858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32588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</a:rPr>
              <a:t>DIVIDE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</a:rPr>
              <a:t>문제를 더 작은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</a:rPr>
              <a:t>부분 문제로 분할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0" y="214884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999232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606040" cy="20116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160520" y="123444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6052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CONQUER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</a:rPr>
              <a:t>부분 문제를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</a:rPr>
              <a:t>재귀적으로 해결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214884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33872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143000"/>
            <a:ext cx="2606040" cy="20116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95160" y="1234440"/>
            <a:ext cx="685800" cy="685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99516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3504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COMBINE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2648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</a:rPr>
              <a:t>부분 해를 합쳐서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</a:rPr>
              <a:t>전체 해 완성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38221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</a:rPr>
              <a:t>01  DIVIDE &amp; CONQUER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문제 분할 트리 시각화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566160" y="1051560"/>
            <a:ext cx="201168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8  3  5  1  6  2  7  4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874520"/>
            <a:ext cx="201168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8 3 5 1 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201168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35040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6  2  7  4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43560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103120" y="1655064"/>
            <a:ext cx="2468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103120" y="165506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0" y="143560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0" y="1655064"/>
            <a:ext cx="2468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040880" y="165506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" y="2697480"/>
            <a:ext cx="2011680" cy="384048"/>
          </a:xfrm>
          <a:prstGeom prst="rect">
            <a:avLst/>
          </a:prstGeom>
          <a:solidFill>
            <a:srgbClr val="EFF6FF"/>
          </a:solidFill>
          <a:ln w="1905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44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8  3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225856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97280" y="2478024"/>
            <a:ext cx="1005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97280" y="247802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103120" y="2697480"/>
            <a:ext cx="2011680" cy="384048"/>
          </a:xfrm>
          <a:prstGeom prst="rect">
            <a:avLst/>
          </a:prstGeom>
          <a:solidFill>
            <a:srgbClr val="EFF6FF"/>
          </a:solidFill>
          <a:ln w="1905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10312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5 1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225856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103120" y="2478024"/>
            <a:ext cx="1005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108960" y="247802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0" y="2697480"/>
            <a:ext cx="2011680" cy="384048"/>
          </a:xfrm>
          <a:prstGeom prst="rect">
            <a:avLst/>
          </a:prstGeom>
          <a:solidFill>
            <a:srgbClr val="EFF6FF"/>
          </a:solidFill>
          <a:ln w="1905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6  2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225856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035040" y="2478024"/>
            <a:ext cx="1005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035040" y="247802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040880" y="2697480"/>
            <a:ext cx="2011680" cy="384048"/>
          </a:xfrm>
          <a:prstGeom prst="rect">
            <a:avLst/>
          </a:prstGeom>
          <a:solidFill>
            <a:srgbClr val="EFF6FF"/>
          </a:solidFill>
          <a:ln w="1905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04088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7  4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225856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040880" y="2478024"/>
            <a:ext cx="1005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046720" y="247802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1440" y="3520440"/>
            <a:ext cx="640080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1440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97280" y="308152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11480" y="3300984"/>
            <a:ext cx="685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11480" y="330098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97280" y="3520440"/>
            <a:ext cx="640080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097280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97280" y="308152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097280" y="3300984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417320" y="330098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2103120" y="3520440"/>
            <a:ext cx="640080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2103120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108960" y="308152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423160" y="3300984"/>
            <a:ext cx="685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2423160" y="330098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108960" y="3520440"/>
            <a:ext cx="640080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3108960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108960" y="308152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108960" y="3300984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429000" y="330098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029200" y="3520440"/>
            <a:ext cx="640080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029200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035040" y="308152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5349240" y="3300984"/>
            <a:ext cx="685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5349240" y="330098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035040" y="3520440"/>
            <a:ext cx="640080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035040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035040" y="308152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035040" y="3300984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355080" y="330098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040880" y="3520440"/>
            <a:ext cx="640080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7040880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8046720" y="308152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360920" y="3300984"/>
            <a:ext cx="685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360920" y="330098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8046720" y="3520440"/>
            <a:ext cx="640080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8046720" y="3520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046720" y="3081528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8046720" y="3300984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366760" y="3300984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8549640" y="1097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전체 문제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8549640" y="1920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1차 분할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549640" y="2743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2차 분할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549640" y="3566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</a:rPr>
              <a:t>기본 단위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</a:rPr>
              <a:t>(크기 1)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369A1"/>
                </a:solidFill>
              </a:rPr>
              <a:t>💡  크기 1로 쪼개면 이미 "정렬된 상태"  →  이제 합치기만 하면 됩니다!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</a:rPr>
              <a:t>02  MERGE SORT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병합 정렬이란?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20240" cy="19202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1234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분할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배열을 반으로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계속 나눔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1097280"/>
            <a:ext cx="1920240" cy="192024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081528" y="123444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81528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7168" y="2103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정렬+병합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두 정렬된 배열을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하나로 합침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08576" y="1097280"/>
            <a:ext cx="1920240" cy="19202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202936" y="123444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202936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08576" y="2103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O(n log 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항상 이 시간!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최악도 동일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9984" y="1097280"/>
            <a:ext cx="1920240" cy="1920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324344" y="12344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24344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29984" y="2103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안정 정렬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1424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같은 값의 순서가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유지됨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841248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436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⏱  시간 복잡도 비교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3703320"/>
            <a:ext cx="210312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알고리즘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3703320"/>
            <a:ext cx="18288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60604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최선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34840" y="3703320"/>
            <a:ext cx="18288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43484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평균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3703320"/>
            <a:ext cx="18288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26364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최악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023360"/>
            <a:ext cx="210312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02920" y="4023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Bubble Sort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06040" y="4023360"/>
            <a:ext cx="18288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6060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O(n)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34840" y="4023360"/>
            <a:ext cx="18288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4348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O(n²)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4023360"/>
            <a:ext cx="18288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2636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O(n²)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4297680"/>
            <a:ext cx="210312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0292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Selection Sort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06040" y="4297680"/>
            <a:ext cx="18288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26060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O(n²)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34840" y="4297680"/>
            <a:ext cx="18288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4348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O(n²)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4297680"/>
            <a:ext cx="18288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2636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O(n²)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4572000"/>
            <a:ext cx="2103120" cy="256032"/>
          </a:xfrm>
          <a:prstGeom prst="rect">
            <a:avLst/>
          </a:prstGeom>
          <a:solidFill>
            <a:srgbClr val="F0FDF4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0292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Merge Sort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606040" y="4572000"/>
            <a:ext cx="1828800" cy="256032"/>
          </a:xfrm>
          <a:prstGeom prst="rect">
            <a:avLst/>
          </a:prstGeom>
          <a:solidFill>
            <a:srgbClr val="F0FDF4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260604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O(n log n)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34840" y="4572000"/>
            <a:ext cx="1828800" cy="256032"/>
          </a:xfrm>
          <a:prstGeom prst="rect">
            <a:avLst/>
          </a:prstGeom>
          <a:solidFill>
            <a:srgbClr val="F0FDF4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43484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O(n log n)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63640" y="4572000"/>
            <a:ext cx="1828800" cy="256032"/>
          </a:xfrm>
          <a:prstGeom prst="rect">
            <a:avLst/>
          </a:prstGeom>
          <a:solidFill>
            <a:srgbClr val="F0FDF4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26364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O(n log 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</a:rPr>
              <a:t>02  MERGE SORT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단계별 시각화: [38, 27, 43, 3]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① DIVIDE  (분할)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7830" y="1417320"/>
            <a:ext cx="50292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87830" y="1417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36470" y="1417320"/>
            <a:ext cx="50292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36470" y="1417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85110" y="1417320"/>
            <a:ext cx="50292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85110" y="1417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43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33750" y="1417320"/>
            <a:ext cx="50292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33750" y="1417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0885" y="1828800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180192" y="1828800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502920" cy="384048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2011680"/>
            <a:ext cx="502920" cy="384048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27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74520" y="2011680"/>
            <a:ext cx="502920" cy="384048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74520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43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23160" y="2011680"/>
            <a:ext cx="502920" cy="384048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423160" y="2011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" y="2423160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15568" y="2423160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892808" y="2423160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395728" y="2423160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2606040"/>
            <a:ext cx="50292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51560" y="2606040"/>
            <a:ext cx="50292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51560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737360" y="2606040"/>
            <a:ext cx="50292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737360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423160" y="2606040"/>
            <a:ext cx="50292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423160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1051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② MERGE  (병합 — 비교하며 합치기)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27  vs  38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1783080"/>
            <a:ext cx="50292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572000" y="17830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27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120640" y="1783080"/>
            <a:ext cx="50292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120640" y="17830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38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80760" y="1783080"/>
            <a:ext cx="50292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080760" y="17830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629400" y="1783080"/>
            <a:ext cx="50292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629400" y="17830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43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→  [27, 38]  와  [3, 43]  각각 정렬됨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최종 병합: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0" y="3017520"/>
            <a:ext cx="50292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572000" y="3017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120640" y="3017520"/>
            <a:ext cx="50292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120640" y="3017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27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669280" y="3017520"/>
            <a:ext cx="50292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669280" y="3017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38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217920" y="3017520"/>
            <a:ext cx="50292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6217920" y="30175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43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526280" y="2926080"/>
            <a:ext cx="228600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526280" y="3703320"/>
            <a:ext cx="425196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709160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🔄  병합의 핵심 아이디어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709160" y="409651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두 배열의 맨 앞 원소를 비교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더 작은 것을 결과 배열에 넣고  →  그 포인터를 한 칸 앞으로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남은 원소는 뒤에 그대로 붙이면 끝!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5760" y="3703320"/>
            <a:ext cx="4023360" cy="118872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594360" y="3767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📌  기억하세요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94360" y="40965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크기 1인 배열은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이미 정렬되어 있습니다!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그래서 합치기만 하면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</a:rPr>
              <a:t>02  MERGE SORT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코드로 보기 (Python)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5577840" cy="42291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6755" y="1407523"/>
            <a:ext cx="5512525" cy="327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def </a:t>
            </a:r>
            <a:r>
              <a:rPr lang="en-US" sz="800" dirty="0" err="1">
                <a:solidFill>
                  <a:schemeClr val="bg1"/>
                </a:solidFill>
              </a:rPr>
              <a:t>merge_sort</a:t>
            </a:r>
            <a:r>
              <a:rPr lang="en-US" sz="800" dirty="0">
                <a:solidFill>
                  <a:schemeClr val="bg1"/>
                </a:solidFill>
              </a:rPr>
              <a:t>(</a:t>
            </a:r>
            <a:r>
              <a:rPr lang="en-US" sz="800" dirty="0" err="1">
                <a:solidFill>
                  <a:schemeClr val="bg1"/>
                </a:solidFill>
              </a:rPr>
              <a:t>arr</a:t>
            </a:r>
            <a:r>
              <a:rPr lang="en-US" sz="800" dirty="0">
                <a:solidFill>
                  <a:schemeClr val="bg1"/>
                </a:solidFill>
              </a:rPr>
              <a:t>):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# 1. </a:t>
            </a:r>
            <a:r>
              <a:rPr lang="ko-KR" altLang="en-US" sz="800" dirty="0">
                <a:solidFill>
                  <a:schemeClr val="bg1"/>
                </a:solidFill>
              </a:rPr>
              <a:t>분할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Divide): </a:t>
            </a:r>
            <a:r>
              <a:rPr lang="ko-KR" altLang="en-US" sz="800" dirty="0">
                <a:solidFill>
                  <a:schemeClr val="bg1"/>
                </a:solidFill>
              </a:rPr>
              <a:t>리스트의 길이가 </a:t>
            </a:r>
            <a:r>
              <a:rPr lang="en-US" altLang="ko-KR" sz="800" dirty="0">
                <a:solidFill>
                  <a:schemeClr val="bg1"/>
                </a:solidFill>
              </a:rPr>
              <a:t>1 </a:t>
            </a:r>
            <a:r>
              <a:rPr lang="ko-KR" altLang="en-US" sz="800" dirty="0">
                <a:solidFill>
                  <a:schemeClr val="bg1"/>
                </a:solidFill>
              </a:rPr>
              <a:t>이하이면 이미 정렬된 상태</a:t>
            </a:r>
          </a:p>
          <a:p>
            <a:r>
              <a:rPr lang="ko-KR" altLang="en-US" sz="800" dirty="0">
                <a:solidFill>
                  <a:schemeClr val="bg1"/>
                </a:solidFill>
              </a:rPr>
              <a:t>    </a:t>
            </a:r>
            <a:r>
              <a:rPr lang="en-US" sz="800" dirty="0">
                <a:solidFill>
                  <a:schemeClr val="bg1"/>
                </a:solidFill>
              </a:rPr>
              <a:t>if </a:t>
            </a:r>
            <a:r>
              <a:rPr lang="en-US" sz="800" dirty="0" err="1">
                <a:solidFill>
                  <a:schemeClr val="bg1"/>
                </a:solidFill>
              </a:rPr>
              <a:t>len</a:t>
            </a:r>
            <a:r>
              <a:rPr lang="en-US" sz="800" dirty="0">
                <a:solidFill>
                  <a:schemeClr val="bg1"/>
                </a:solidFill>
              </a:rPr>
              <a:t>(</a:t>
            </a:r>
            <a:r>
              <a:rPr lang="en-US" sz="800" dirty="0" err="1">
                <a:solidFill>
                  <a:schemeClr val="bg1"/>
                </a:solidFill>
              </a:rPr>
              <a:t>arr</a:t>
            </a:r>
            <a:r>
              <a:rPr lang="en-US" sz="800" dirty="0">
                <a:solidFill>
                  <a:schemeClr val="bg1"/>
                </a:solidFill>
              </a:rPr>
              <a:t>) &lt;= 1: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return </a:t>
            </a:r>
            <a:r>
              <a:rPr lang="en-US" sz="800" dirty="0" err="1">
                <a:solidFill>
                  <a:schemeClr val="bg1"/>
                </a:solidFill>
              </a:rPr>
              <a:t>arr</a:t>
            </a:r>
            <a:endParaRPr 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    mid = </a:t>
            </a:r>
            <a:r>
              <a:rPr lang="en-US" sz="800" dirty="0" err="1">
                <a:solidFill>
                  <a:schemeClr val="bg1"/>
                </a:solidFill>
              </a:rPr>
              <a:t>len</a:t>
            </a:r>
            <a:r>
              <a:rPr lang="en-US" sz="800" dirty="0">
                <a:solidFill>
                  <a:schemeClr val="bg1"/>
                </a:solidFill>
              </a:rPr>
              <a:t>(</a:t>
            </a:r>
            <a:r>
              <a:rPr lang="en-US" sz="800" dirty="0" err="1">
                <a:solidFill>
                  <a:schemeClr val="bg1"/>
                </a:solidFill>
              </a:rPr>
              <a:t>arr</a:t>
            </a:r>
            <a:r>
              <a:rPr lang="en-US" sz="800" dirty="0">
                <a:solidFill>
                  <a:schemeClr val="bg1"/>
                </a:solidFill>
              </a:rPr>
              <a:t>) // 2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</a:t>
            </a:r>
            <a:r>
              <a:rPr lang="en-US" sz="800" dirty="0" err="1">
                <a:solidFill>
                  <a:schemeClr val="bg1"/>
                </a:solidFill>
              </a:rPr>
              <a:t>left_half</a:t>
            </a:r>
            <a:r>
              <a:rPr lang="en-US" sz="800" dirty="0">
                <a:solidFill>
                  <a:schemeClr val="bg1"/>
                </a:solidFill>
              </a:rPr>
              <a:t> = </a:t>
            </a:r>
            <a:r>
              <a:rPr lang="en-US" sz="800" dirty="0" err="1">
                <a:solidFill>
                  <a:schemeClr val="bg1"/>
                </a:solidFill>
              </a:rPr>
              <a:t>merge_sort</a:t>
            </a:r>
            <a:r>
              <a:rPr lang="en-US" sz="800" dirty="0">
                <a:solidFill>
                  <a:schemeClr val="bg1"/>
                </a:solidFill>
              </a:rPr>
              <a:t>(</a:t>
            </a:r>
            <a:r>
              <a:rPr lang="en-US" sz="800" dirty="0" err="1">
                <a:solidFill>
                  <a:schemeClr val="bg1"/>
                </a:solidFill>
              </a:rPr>
              <a:t>arr</a:t>
            </a:r>
            <a:r>
              <a:rPr lang="en-US" sz="800" dirty="0">
                <a:solidFill>
                  <a:schemeClr val="bg1"/>
                </a:solidFill>
              </a:rPr>
              <a:t>[:mid])   # </a:t>
            </a:r>
            <a:r>
              <a:rPr lang="ko-KR" altLang="en-US" sz="800" dirty="0">
                <a:solidFill>
                  <a:schemeClr val="bg1"/>
                </a:solidFill>
              </a:rPr>
              <a:t>왼쪽 부분 분할</a:t>
            </a:r>
          </a:p>
          <a:p>
            <a:r>
              <a:rPr lang="ko-KR" altLang="en-US" sz="800" dirty="0">
                <a:solidFill>
                  <a:schemeClr val="bg1"/>
                </a:solidFill>
              </a:rPr>
              <a:t>    </a:t>
            </a:r>
            <a:r>
              <a:rPr lang="en-US" sz="800" dirty="0" err="1">
                <a:solidFill>
                  <a:schemeClr val="bg1"/>
                </a:solidFill>
              </a:rPr>
              <a:t>right_half</a:t>
            </a:r>
            <a:r>
              <a:rPr lang="en-US" sz="800" dirty="0">
                <a:solidFill>
                  <a:schemeClr val="bg1"/>
                </a:solidFill>
              </a:rPr>
              <a:t> = </a:t>
            </a:r>
            <a:r>
              <a:rPr lang="en-US" sz="800" dirty="0" err="1">
                <a:solidFill>
                  <a:schemeClr val="bg1"/>
                </a:solidFill>
              </a:rPr>
              <a:t>merge_sort</a:t>
            </a:r>
            <a:r>
              <a:rPr lang="en-US" sz="800" dirty="0">
                <a:solidFill>
                  <a:schemeClr val="bg1"/>
                </a:solidFill>
              </a:rPr>
              <a:t>(</a:t>
            </a:r>
            <a:r>
              <a:rPr lang="en-US" sz="800" dirty="0" err="1">
                <a:solidFill>
                  <a:schemeClr val="bg1"/>
                </a:solidFill>
              </a:rPr>
              <a:t>arr</a:t>
            </a:r>
            <a:r>
              <a:rPr lang="en-US" sz="800" dirty="0">
                <a:solidFill>
                  <a:schemeClr val="bg1"/>
                </a:solidFill>
              </a:rPr>
              <a:t>[mid:])  # </a:t>
            </a:r>
            <a:r>
              <a:rPr lang="ko-KR" altLang="en-US" sz="800" dirty="0">
                <a:solidFill>
                  <a:schemeClr val="bg1"/>
                </a:solidFill>
              </a:rPr>
              <a:t>오른쪽 부분 분할</a:t>
            </a:r>
          </a:p>
          <a:p>
            <a:endParaRPr lang="ko-KR" altLang="en-US" sz="800" dirty="0">
              <a:solidFill>
                <a:schemeClr val="bg1"/>
              </a:solidFill>
            </a:endParaRPr>
          </a:p>
          <a:p>
            <a:r>
              <a:rPr lang="ko-KR" altLang="en-US" sz="800" dirty="0">
                <a:solidFill>
                  <a:schemeClr val="bg1"/>
                </a:solidFill>
              </a:rPr>
              <a:t>    </a:t>
            </a:r>
            <a:r>
              <a:rPr lang="en-US" altLang="ko-KR" sz="800" dirty="0">
                <a:solidFill>
                  <a:schemeClr val="bg1"/>
                </a:solidFill>
              </a:rPr>
              <a:t># 2. </a:t>
            </a:r>
            <a:r>
              <a:rPr lang="ko-KR" altLang="en-US" sz="800" dirty="0">
                <a:solidFill>
                  <a:schemeClr val="bg1"/>
                </a:solidFill>
              </a:rPr>
              <a:t>정복 및 병합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Conquer &amp; Merge)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return merge(</a:t>
            </a:r>
            <a:r>
              <a:rPr lang="en-US" sz="800" dirty="0" err="1">
                <a:solidFill>
                  <a:schemeClr val="bg1"/>
                </a:solidFill>
              </a:rPr>
              <a:t>left_half</a:t>
            </a:r>
            <a:r>
              <a:rPr lang="en-US" sz="800" dirty="0">
                <a:solidFill>
                  <a:schemeClr val="bg1"/>
                </a:solidFill>
              </a:rPr>
              <a:t>, </a:t>
            </a:r>
            <a:r>
              <a:rPr lang="en-US" sz="800" dirty="0" err="1">
                <a:solidFill>
                  <a:schemeClr val="bg1"/>
                </a:solidFill>
              </a:rPr>
              <a:t>right_half</a:t>
            </a:r>
            <a:r>
              <a:rPr lang="en-US" sz="800" dirty="0">
                <a:solidFill>
                  <a:schemeClr val="bg1"/>
                </a:solidFill>
              </a:rPr>
              <a:t>)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def merge(left, right):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result = []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</a:t>
            </a:r>
            <a:r>
              <a:rPr lang="en-US" sz="800" dirty="0" err="1">
                <a:solidFill>
                  <a:schemeClr val="bg1"/>
                </a:solidFill>
              </a:rPr>
              <a:t>i</a:t>
            </a:r>
            <a:r>
              <a:rPr lang="en-US" sz="800" dirty="0">
                <a:solidFill>
                  <a:schemeClr val="bg1"/>
                </a:solidFill>
              </a:rPr>
              <a:t> = j = 0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    # </a:t>
            </a:r>
            <a:r>
              <a:rPr lang="ko-KR" altLang="en-US" sz="800" dirty="0">
                <a:solidFill>
                  <a:schemeClr val="bg1"/>
                </a:solidFill>
              </a:rPr>
              <a:t>두 리스트를 비교하며 작은 순서대로 결과에 추가</a:t>
            </a:r>
          </a:p>
          <a:p>
            <a:r>
              <a:rPr lang="ko-KR" altLang="en-US" sz="800" dirty="0">
                <a:solidFill>
                  <a:schemeClr val="bg1"/>
                </a:solidFill>
              </a:rPr>
              <a:t>    </a:t>
            </a:r>
            <a:r>
              <a:rPr lang="en-US" sz="800" dirty="0">
                <a:solidFill>
                  <a:schemeClr val="bg1"/>
                </a:solidFill>
              </a:rPr>
              <a:t>while </a:t>
            </a:r>
            <a:r>
              <a:rPr lang="en-US" sz="800" dirty="0" err="1">
                <a:solidFill>
                  <a:schemeClr val="bg1"/>
                </a:solidFill>
              </a:rPr>
              <a:t>i</a:t>
            </a:r>
            <a:r>
              <a:rPr lang="en-US" sz="800" dirty="0">
                <a:solidFill>
                  <a:schemeClr val="bg1"/>
                </a:solidFill>
              </a:rPr>
              <a:t> &lt; </a:t>
            </a:r>
            <a:r>
              <a:rPr lang="en-US" sz="800" dirty="0" err="1">
                <a:solidFill>
                  <a:schemeClr val="bg1"/>
                </a:solidFill>
              </a:rPr>
              <a:t>len</a:t>
            </a:r>
            <a:r>
              <a:rPr lang="en-US" sz="800" dirty="0">
                <a:solidFill>
                  <a:schemeClr val="bg1"/>
                </a:solidFill>
              </a:rPr>
              <a:t>(left) and j &lt; </a:t>
            </a:r>
            <a:r>
              <a:rPr lang="en-US" sz="800" dirty="0" err="1">
                <a:solidFill>
                  <a:schemeClr val="bg1"/>
                </a:solidFill>
              </a:rPr>
              <a:t>len</a:t>
            </a:r>
            <a:r>
              <a:rPr lang="en-US" sz="800" dirty="0">
                <a:solidFill>
                  <a:schemeClr val="bg1"/>
                </a:solidFill>
              </a:rPr>
              <a:t>(right):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if left[</a:t>
            </a:r>
            <a:r>
              <a:rPr lang="en-US" sz="800" dirty="0" err="1">
                <a:solidFill>
                  <a:schemeClr val="bg1"/>
                </a:solidFill>
              </a:rPr>
              <a:t>i</a:t>
            </a:r>
            <a:r>
              <a:rPr lang="en-US" sz="800" dirty="0">
                <a:solidFill>
                  <a:schemeClr val="bg1"/>
                </a:solidFill>
              </a:rPr>
              <a:t>] &lt;= right[j]: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</a:t>
            </a:r>
            <a:r>
              <a:rPr lang="en-US" sz="800" dirty="0" err="1">
                <a:solidFill>
                  <a:schemeClr val="bg1"/>
                </a:solidFill>
              </a:rPr>
              <a:t>result.append</a:t>
            </a:r>
            <a:r>
              <a:rPr lang="en-US" sz="800" dirty="0">
                <a:solidFill>
                  <a:schemeClr val="bg1"/>
                </a:solidFill>
              </a:rPr>
              <a:t>(left[</a:t>
            </a:r>
            <a:r>
              <a:rPr lang="en-US" sz="800" dirty="0" err="1">
                <a:solidFill>
                  <a:schemeClr val="bg1"/>
                </a:solidFill>
              </a:rPr>
              <a:t>i</a:t>
            </a:r>
            <a:r>
              <a:rPr lang="en-US" sz="800" dirty="0">
                <a:solidFill>
                  <a:schemeClr val="bg1"/>
                </a:solidFill>
              </a:rPr>
              <a:t>])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</a:t>
            </a:r>
            <a:r>
              <a:rPr lang="en-US" sz="800" dirty="0" err="1">
                <a:solidFill>
                  <a:schemeClr val="bg1"/>
                </a:solidFill>
              </a:rPr>
              <a:t>i</a:t>
            </a:r>
            <a:r>
              <a:rPr lang="en-US" sz="800" dirty="0">
                <a:solidFill>
                  <a:schemeClr val="bg1"/>
                </a:solidFill>
              </a:rPr>
              <a:t> += 1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else: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</a:t>
            </a:r>
            <a:r>
              <a:rPr lang="en-US" sz="800" dirty="0" err="1">
                <a:solidFill>
                  <a:schemeClr val="bg1"/>
                </a:solidFill>
              </a:rPr>
              <a:t>result.append</a:t>
            </a:r>
            <a:r>
              <a:rPr lang="en-US" sz="800" dirty="0">
                <a:solidFill>
                  <a:schemeClr val="bg1"/>
                </a:solidFill>
              </a:rPr>
              <a:t>(right[j])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j += 1</a:t>
            </a: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800" dirty="0">
                <a:solidFill>
                  <a:schemeClr val="bg1"/>
                </a:solidFill>
              </a:rPr>
              <a:t>    # </a:t>
            </a:r>
            <a:r>
              <a:rPr lang="ko-KR" altLang="en-US" sz="800" dirty="0">
                <a:solidFill>
                  <a:schemeClr val="bg1"/>
                </a:solidFill>
              </a:rPr>
              <a:t>남은 요소들을 결과 리스트에 병합</a:t>
            </a:r>
          </a:p>
          <a:p>
            <a:r>
              <a:rPr lang="ko-KR" altLang="en-US" sz="800" dirty="0">
                <a:solidFill>
                  <a:schemeClr val="bg1"/>
                </a:solidFill>
              </a:rPr>
              <a:t>    </a:t>
            </a:r>
            <a:r>
              <a:rPr lang="en-US" sz="800" dirty="0" err="1">
                <a:solidFill>
                  <a:schemeClr val="bg1"/>
                </a:solidFill>
              </a:rPr>
              <a:t>result.extend</a:t>
            </a:r>
            <a:r>
              <a:rPr lang="en-US" sz="800" dirty="0">
                <a:solidFill>
                  <a:schemeClr val="bg1"/>
                </a:solidFill>
              </a:rPr>
              <a:t>(left[</a:t>
            </a:r>
            <a:r>
              <a:rPr lang="en-US" sz="800" dirty="0" err="1">
                <a:solidFill>
                  <a:schemeClr val="bg1"/>
                </a:solidFill>
              </a:rPr>
              <a:t>i</a:t>
            </a:r>
            <a:r>
              <a:rPr lang="en-US" sz="800" dirty="0">
                <a:solidFill>
                  <a:schemeClr val="bg1"/>
                </a:solidFill>
              </a:rPr>
              <a:t>:])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</a:t>
            </a:r>
            <a:r>
              <a:rPr lang="en-US" sz="800" dirty="0" err="1">
                <a:solidFill>
                  <a:schemeClr val="bg1"/>
                </a:solidFill>
              </a:rPr>
              <a:t>result.extend</a:t>
            </a:r>
            <a:r>
              <a:rPr lang="en-US" sz="800" dirty="0">
                <a:solidFill>
                  <a:schemeClr val="bg1"/>
                </a:solidFill>
              </a:rPr>
              <a:t>(right[j:])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return result</a:t>
            </a:r>
          </a:p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60720" y="1051560"/>
            <a:ext cx="30175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85216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🔴  기저 조건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1399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크기 0 또는 1이면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더 이상 쪼갤 필요 없음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0" y="2240280"/>
            <a:ext cx="30175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85216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🔵  분할 단계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587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중간 인덱스 기준으로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왼쪽/오른쪽 재귀 호출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3246120"/>
            <a:ext cx="30175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5216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🟢  병합 단계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3593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두 배열 비교하며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하나로 합치기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D6FE"/>
                </a:solidFill>
              </a:rPr>
              <a:t>03  BINARY 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이진 탐색이란?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📛  선형 탐색 (Linear Search)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배열을 처음부터 끝까지 하나씩 확인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685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1737360"/>
            <a:ext cx="685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92224" y="1737360"/>
            <a:ext cx="685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92224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05456" y="1737360"/>
            <a:ext cx="685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505456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18688" y="1737360"/>
            <a:ext cx="685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18688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1737360"/>
            <a:ext cx="685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931920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12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45152" y="1737360"/>
            <a:ext cx="6858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45152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14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58384" y="1737360"/>
            <a:ext cx="685800" cy="384048"/>
          </a:xfrm>
          <a:prstGeom prst="rect">
            <a:avLst/>
          </a:prstGeom>
          <a:solidFill>
            <a:srgbClr val="FCA5A5"/>
          </a:solidFill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358384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17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71616" y="1737360"/>
            <a:ext cx="685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071616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20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84848" y="1737360"/>
            <a:ext cx="685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84848" y="17373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25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61872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75104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88336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01568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2450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</a:rPr>
              <a:t>O(n) = 8번 비교!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4632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✅  이진 탐색 (Binary Search)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1389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중간값과 비교해 절반씩 제거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463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48656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24865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50992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65099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53328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05332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55664" y="1737360"/>
            <a:ext cx="384048" cy="38404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45566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8580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60336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726033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62672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66267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65008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80650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467344" y="1737360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846734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</a:rPr>
              <a:t>12 &lt; 17  →  오른쪽 절반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846320" y="2542032"/>
            <a:ext cx="384048" cy="384048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484632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248656" y="2542032"/>
            <a:ext cx="384048" cy="384048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5248656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650992" y="2542032"/>
            <a:ext cx="384048" cy="384048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65099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053328" y="2542032"/>
            <a:ext cx="384048" cy="384048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605332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55664" y="2542032"/>
            <a:ext cx="384048" cy="384048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6455664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58000" y="2542032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85800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260336" y="2542032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7260336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14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662672" y="2542032"/>
            <a:ext cx="384048" cy="38404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766267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17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065008" y="2542032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806500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467344" y="2542032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8467344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846320" y="2953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</a:rPr>
              <a:t>17 == 17  →  찾음! 🎉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4846320" y="3401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O(log n) = 2번 비교!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4663440" y="1005840"/>
            <a:ext cx="0" cy="26517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594360" y="38221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</a:rPr>
              <a:t>⚡  핵심 조건 — Binary Search는 반드시 정렬된 배열에서만 사용 가능!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594360" y="41879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이유: 중간값 기준으로 "왼쪽은 더 작다, 오른쪽은 더 크다"는 보장이 있어야 절반을 버릴 수 있기 때문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D6FE"/>
                </a:solidFill>
              </a:rPr>
              <a:t>03  BINARY 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코드 + 포인터 움직임 추적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7566" y="987552"/>
            <a:ext cx="5003074" cy="34930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9184" y="1316736"/>
            <a:ext cx="45262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8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binary_search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(arr, target):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0, len(arr) - 1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 &lt;= hi: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hi) // 2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arr[mid] == target: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mid  # 찾음!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arr[mid] &lt; target: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 = mid + 1  # 오른쪽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 = mid - 1  # 왼쪽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  # 없음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0" y="1024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</a:rPr>
              <a:t>🔍  탐색 추적: target = 17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0352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1:  lo=0, hi=9, mid=4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03520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0136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660136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16752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16752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373368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73368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29984" y="1691640"/>
            <a:ext cx="347472" cy="329184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29984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86600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086600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43216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443216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99832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799832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156448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156448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20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513064" y="16916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513064" y="16916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25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9984" y="20391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3AED"/>
                </a:solidFill>
              </a:rPr>
              <a:t>↑mid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03520" y="2084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9 &lt; 17 → lo=5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2:  lo=5, hi=9, mid=7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2606040"/>
            <a:ext cx="347472" cy="3291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303520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60136" y="2606040"/>
            <a:ext cx="347472" cy="3291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660136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16752" y="2606040"/>
            <a:ext cx="347472" cy="3291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016752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73368" y="2606040"/>
            <a:ext cx="347472" cy="3291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373368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29984" y="2606040"/>
            <a:ext cx="347472" cy="32918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729984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086600" y="26060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086600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43216" y="26060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7443216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99832" y="2606040"/>
            <a:ext cx="347472" cy="329184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799832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17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56448" y="26060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8156448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20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513064" y="2606040"/>
            <a:ext cx="347472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513064" y="2606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25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799832" y="29535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3AED"/>
                </a:solidFill>
              </a:rPr>
              <a:t>↑mid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303520" y="29992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17 == 17 → 반환!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48640" y="456285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n=10억개  →  선형탐색 최대 10억번  vs  이진탐색 최대 30번!  (log₂ 1,000,000,000 ≈ 30)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ED7AA"/>
                </a:solidFill>
              </a:rPr>
              <a:t>04  TWO-POINTER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투 포인터란?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77640" cy="164592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💡  핵심 아이디어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배열에 두 개의 포인터(인덱스)를 두고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조건에 따라 각각 이동시켜 탐색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중첩 반복문 O(n²) → O(n) 으로 단축!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77640" cy="164592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📋  언제 사용?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✓  </a:t>
            </a:r>
            <a:r>
              <a:rPr lang="en-US" sz="1150" dirty="0">
                <a:solidFill>
                  <a:srgbClr val="1E293B"/>
                </a:solidFill>
              </a:rPr>
              <a:t>정렬된 배열에서 두 수의 합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✓  </a:t>
            </a:r>
            <a:r>
              <a:rPr lang="en-US" sz="1150" dirty="0">
                <a:solidFill>
                  <a:srgbClr val="1E293B"/>
                </a:solidFill>
              </a:rPr>
              <a:t>부분 배열의 최대/최소 합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✓  </a:t>
            </a:r>
            <a:r>
              <a:rPr lang="en-US" sz="1150" dirty="0">
                <a:solidFill>
                  <a:srgbClr val="1E293B"/>
                </a:solidFill>
              </a:rPr>
              <a:t>팰린드롬 검사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✓  </a:t>
            </a:r>
            <a:r>
              <a:rPr lang="en-US" sz="1150" dirty="0">
                <a:solidFill>
                  <a:srgbClr val="1E293B"/>
                </a:solidFill>
              </a:rPr>
              <a:t>슬라이딩 윈도우 (응용)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📌  예시: 정렬된 배열에서 합이 20인 두 수 찾기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822960" cy="457200"/>
          </a:xfrm>
          <a:prstGeom prst="rect">
            <a:avLst/>
          </a:prstGeom>
          <a:solidFill>
            <a:srgbClr val="DBEAFE"/>
          </a:solidFill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71016" y="320040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71016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30552" y="320040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130552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90088" y="320040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990088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49624" y="320040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849624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10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0916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11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68696" y="320040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568696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14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28232" y="3200400"/>
            <a:ext cx="822960" cy="457200"/>
          </a:xfrm>
          <a:prstGeom prst="rect">
            <a:avLst/>
          </a:prstGeom>
          <a:solidFill>
            <a:srgbClr val="FFEDD5"/>
          </a:solidFill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28232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17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28232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</a:rPr>
              <a:t>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36393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</a:rPr>
              <a:t>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28232" y="36393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580C"/>
                </a:solidFill>
              </a:rPr>
              <a:t>↑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977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563EB"/>
                </a:solidFill>
              </a:rPr>
              <a:t>arr[L] + arr[R] = 1 + 17 = 18 &lt; 20  →  L을 오른쪽으로 (L++)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11480" y="4297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계속 이동하면...  arr[2] + arr[7] = 6 + 14 = 20  →  정답!  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ED7AA"/>
                </a:solidFill>
              </a:rPr>
              <a:t>04  TWO-POINTER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단계별 시뮬레이션 + 코드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1:  L=0, R=7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66928" cy="3200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26187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60120" y="12618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126187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54480" y="12618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126187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148840" y="12618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126187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12618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26187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337560" y="12618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126187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31920" y="12618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1261872"/>
            <a:ext cx="566928" cy="320040"/>
          </a:xfrm>
          <a:prstGeom prst="rect">
            <a:avLst/>
          </a:prstGeom>
          <a:solidFill>
            <a:srgbClr val="FFEDD5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26280" y="126187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17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16002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16002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</a:rPr>
              <a:t>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1033272"/>
            <a:ext cx="374904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166360" y="1033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 + 17 = 18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18 &lt; 20  →  L++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2:  L=1, R=7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157984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21579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" y="2157984"/>
            <a:ext cx="566928" cy="3200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60120" y="21579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554480" y="2157984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554480" y="21579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48840" y="2157984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148840" y="21579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0" y="2157984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743200" y="21579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37560" y="2157984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337560" y="21579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31920" y="2157984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931920" y="21579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26280" y="2157984"/>
            <a:ext cx="566928" cy="320040"/>
          </a:xfrm>
          <a:prstGeom prst="rect">
            <a:avLst/>
          </a:prstGeom>
          <a:solidFill>
            <a:srgbClr val="FFEDD5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526280" y="21579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17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120" y="24963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26280" y="24963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20640" y="1929384"/>
            <a:ext cx="374904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166360" y="19293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4 + 17 = 21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66360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21 &gt; 20  →  R--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3:  L=1, R=6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3054096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65760" y="30540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60120" y="3054096"/>
            <a:ext cx="566928" cy="3200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960120" y="30540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4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554480" y="3054096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554480" y="30540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6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148840" y="3054096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2148840" y="30540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8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43200" y="3054096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2743200" y="30540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337560" y="3054096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3337560" y="30540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931920" y="3054096"/>
            <a:ext cx="566928" cy="320040"/>
          </a:xfrm>
          <a:prstGeom prst="rect">
            <a:avLst/>
          </a:prstGeom>
          <a:solidFill>
            <a:srgbClr val="FFEDD5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3931920" y="30540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14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26280" y="3054096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4526280" y="305409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17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60120" y="3392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L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931920" y="3392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</a:rPr>
              <a:t>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120640" y="2825496"/>
            <a:ext cx="374904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5166360" y="2825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4 + 14 = 18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166360" y="3145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18 &lt; 20  →  L++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6576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4:  L=2, R=6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65760" y="3950208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365760" y="39502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60120" y="3950208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960120" y="39502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4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554480" y="3950208"/>
            <a:ext cx="566928" cy="3200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1554480" y="39502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6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148840" y="3950208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2148840" y="39502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8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743200" y="3950208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2743200" y="39502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10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337560" y="3950208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3337560" y="39502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931920" y="3950208"/>
            <a:ext cx="566928" cy="320040"/>
          </a:xfrm>
          <a:prstGeom prst="rect">
            <a:avLst/>
          </a:prstGeom>
          <a:solidFill>
            <a:srgbClr val="FFEDD5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3931920" y="39502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14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526280" y="3950208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4526280" y="39502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17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554480" y="4288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L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3931920" y="4288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</a:rPr>
              <a:t>R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120640" y="3721608"/>
            <a:ext cx="3749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5166360" y="3721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6 + 14 = 20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516636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20 == 20  →  정답! arr[2]=6, arr[6]=14  🎉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548640" y="46085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</a:rPr>
              <a:t>브루트포스(이중루프) O(n²) → 투 포인터 O(n)  |  n=10,000이면  1억번 → 1만번으로!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오늘 배운 4가지 — 한눈에 정리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977640" cy="17830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64008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Divide &amp; Conquer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88720" y="15544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554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O(n log n) ~ O(n²)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1892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문제를 반으로 쪼개 해결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재귀(Recursion)를 활용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88720" y="2441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Merge Sort, Quick Sort의 기반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3977640" cy="178308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64008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154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</a:rPr>
              <a:t>Merge Sort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88720" y="352044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18872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O(n log n) 항상!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38587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안정 정렬 (stable sort)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88720" y="41330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추가 메모리 O(n) 필요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88720" y="44074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최악도 O(n log n) 보장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051560"/>
            <a:ext cx="3977640" cy="17830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754880" y="105156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937760" y="12801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377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23560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</a:rPr>
              <a:t>Binary Search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623560" y="15544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623560" y="1554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O(log 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1892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정렬된 배열 필수!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23560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lo, hi, mid 세 변수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23560" y="2441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반씩 줄여나가는 탐색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3977640" cy="178308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754880" y="3017520"/>
            <a:ext cx="64008" cy="1783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937760" y="324612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9377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→←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623560" y="3154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580C"/>
                </a:solidFill>
              </a:rPr>
              <a:t>Two-Pointer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23560" y="352044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62356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O(n)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38587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O(n²) → O(n)으로 개선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23560" y="41330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두 포인터를 조건에 따라 이동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23560" y="44074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</a:rPr>
              <a:t>• </a:t>
            </a:r>
            <a:r>
              <a:rPr lang="en-US" sz="1050" dirty="0">
                <a:solidFill>
                  <a:srgbClr val="1E293B"/>
                </a:solidFill>
              </a:rPr>
              <a:t>정렬된 배열에서 특히 강력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0" y="1005840"/>
            <a:ext cx="0" cy="3749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20040" y="290779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517904"/>
            <a:ext cx="3657600" cy="36576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🎯  </a:t>
            </a:r>
            <a:r>
              <a:rPr lang="en-US" sz="2600" b="1" dirty="0" err="1">
                <a:solidFill>
                  <a:srgbClr val="FFFFFF"/>
                </a:solidFill>
              </a:rPr>
              <a:t>오늘의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ko-KR" altLang="en-US" sz="2600" b="1" dirty="0">
                <a:solidFill>
                  <a:srgbClr val="FFFFFF"/>
                </a:solidFill>
              </a:rPr>
              <a:t>문제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4116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411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1722876"/>
            <a:ext cx="7589520" cy="548640"/>
          </a:xfrm>
          <a:prstGeom prst="rect">
            <a:avLst/>
          </a:prstGeom>
          <a:solidFill>
            <a:srgbClr val="1E2E47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97280" y="1722876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80160" y="18143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Divide &amp; Conquer  =  1074</a:t>
            </a:r>
            <a:r>
              <a:rPr lang="ko-KR" altLang="en-US" sz="1300" dirty="0">
                <a:solidFill>
                  <a:srgbClr val="FFFFFF"/>
                </a:solidFill>
              </a:rPr>
              <a:t>번 </a:t>
            </a:r>
            <a:r>
              <a:rPr lang="en-US" altLang="ko-KR" sz="1300" dirty="0">
                <a:solidFill>
                  <a:srgbClr val="FFFFFF"/>
                </a:solidFill>
              </a:rPr>
              <a:t>Z , 10830 </a:t>
            </a:r>
            <a:r>
              <a:rPr lang="ko-KR" altLang="en-US" sz="1300" dirty="0">
                <a:solidFill>
                  <a:srgbClr val="FFFFFF"/>
                </a:solidFill>
              </a:rPr>
              <a:t>행렬 제곱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2487168"/>
            <a:ext cx="7589520" cy="548640"/>
          </a:xfrm>
          <a:prstGeom prst="rect">
            <a:avLst/>
          </a:prstGeom>
          <a:solidFill>
            <a:srgbClr val="1E2E47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97280" y="2487168"/>
            <a:ext cx="54864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0" y="25786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Binary Search  = 10816 </a:t>
            </a:r>
            <a:r>
              <a:rPr lang="ko-KR" altLang="en-US" sz="1300" dirty="0">
                <a:solidFill>
                  <a:srgbClr val="FFFFFF"/>
                </a:solidFill>
              </a:rPr>
              <a:t>숫자카드 </a:t>
            </a:r>
            <a:r>
              <a:rPr lang="en-US" altLang="ko-KR" sz="1300" dirty="0">
                <a:solidFill>
                  <a:srgbClr val="FFFFFF"/>
                </a:solidFill>
              </a:rPr>
              <a:t>2, 1920 </a:t>
            </a:r>
            <a:r>
              <a:rPr lang="ko-KR" altLang="en-US" sz="1300" dirty="0">
                <a:solidFill>
                  <a:srgbClr val="FFFFFF"/>
                </a:solidFill>
              </a:rPr>
              <a:t>수 찾기</a:t>
            </a:r>
            <a:r>
              <a:rPr lang="en-US" altLang="ko-KR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→←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3236976"/>
            <a:ext cx="7589520" cy="548640"/>
          </a:xfrm>
          <a:prstGeom prst="rect">
            <a:avLst/>
          </a:prstGeom>
          <a:solidFill>
            <a:srgbClr val="1E2E47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97280" y="3236976"/>
            <a:ext cx="54864" cy="5486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280160" y="3328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Two-Pointer  =  2470 </a:t>
            </a:r>
            <a:r>
              <a:rPr lang="ko-KR" altLang="en-US" sz="1300" dirty="0">
                <a:solidFill>
                  <a:srgbClr val="FFFFFF"/>
                </a:solidFill>
              </a:rPr>
              <a:t>두 용액</a:t>
            </a:r>
            <a:r>
              <a:rPr lang="en-US" altLang="ko-KR" sz="1300" dirty="0">
                <a:solidFill>
                  <a:srgbClr val="FFFFFF"/>
                </a:solidFill>
              </a:rPr>
              <a:t>, 2559 </a:t>
            </a:r>
            <a:r>
              <a:rPr lang="ko-KR" altLang="en-US" sz="1300" dirty="0">
                <a:solidFill>
                  <a:srgbClr val="FFFFFF"/>
                </a:solidFill>
              </a:rPr>
              <a:t>수열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다음 시간 예고:  Quick Sort, Heap Sort, Dynamic Programming  →  더 강력한 알고리즘의 세계로!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1447</Words>
  <Application>Microsoft Office PowerPoint</Application>
  <PresentationFormat>화면 슬라이드 쇼(16:9)</PresentationFormat>
  <Paragraphs>387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Algorithms: Divide &amp; Conquer, Merge Sort, Binary Search, Two-Pointer</dc:title>
  <dc:subject>PptxGenJS Presentation</dc:subject>
  <dc:creator>PptxGenJS</dc:creator>
  <cp:lastModifiedBy>양하정</cp:lastModifiedBy>
  <cp:revision>2</cp:revision>
  <dcterms:created xsi:type="dcterms:W3CDTF">2026-03-27T08:10:11Z</dcterms:created>
  <dcterms:modified xsi:type="dcterms:W3CDTF">2026-03-27T08:29:52Z</dcterms:modified>
</cp:coreProperties>
</file>