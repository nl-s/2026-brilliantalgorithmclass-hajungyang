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71" r:id="rId7"/>
    <p:sldId id="260" r:id="rId8"/>
    <p:sldId id="261" r:id="rId9"/>
    <p:sldId id="262" r:id="rId10"/>
    <p:sldId id="273" r:id="rId11"/>
    <p:sldId id="263" r:id="rId12"/>
    <p:sldId id="274" r:id="rId13"/>
    <p:sldId id="264" r:id="rId14"/>
    <p:sldId id="275" r:id="rId15"/>
    <p:sldId id="276" r:id="rId16"/>
    <p:sldId id="265" r:id="rId17"/>
    <p:sldId id="277" r:id="rId18"/>
    <p:sldId id="268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94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0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5kJIoCZ8e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umHJzlKFGlU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shorts/1-elk8F8_U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shorts/5Kl3L3kdGb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hq3U5VE3MPY" TargetMode="External"/><Relationship Id="rId2" Type="http://schemas.openxmlformats.org/officeDocument/2006/relationships/hyperlink" Target="https://www.youtube.com/shorts/ULEtQ-OwFMQ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shorts/XFE3XkWERnI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543800" y="182880"/>
            <a:ext cx="1005840" cy="10058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458200" y="457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65760" cy="36576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자료구조 &amp; 알고리즘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1차시 — </a:t>
            </a:r>
            <a:r>
              <a:rPr lang="ko-KR" alt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그래프와 그래프 순회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&amp; Tree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64792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764792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Queue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9544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9544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54296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/ DFS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99048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3200400"/>
            <a:ext cx="1325880" cy="41148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43800" y="32004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뽑아준 </a:t>
            </a:r>
            <a:r>
              <a:rPr lang="ko-KR" alt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개쩌는</a:t>
            </a:r>
            <a:r>
              <a:rPr lang="ko-KR" alt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PPT!</a:t>
            </a:r>
            <a:endParaRPr 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334118D-939B-05FC-6FED-B45DCBFF5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26431" y="-345970"/>
            <a:ext cx="1377739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오늘 배울 내용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중간에 모르면 제발 물어보세요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560320" cy="14630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&amp; 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그래프와 트리의 개념, 종류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14630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10128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0128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스택, 큐, 우선순위 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14630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44768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44768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44768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 함수의 개념과 원리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560320" cy="1463040"/>
          </a:xfrm>
          <a:prstGeom prst="rect">
            <a:avLst/>
          </a:prstGeom>
          <a:solidFill>
            <a:srgbClr val="FED7AA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&amp; DFS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탐색 알고리즘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560320" cy="1463040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10128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10128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10128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N-Queen 문제로 배우기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560320" cy="14630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44768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44768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44768" y="3931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최단 경로 알고리즘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Graph (그래프)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노드(Node)와 엣지(Edge)로 이루어진 자료구조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그래프란?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36576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(Node / Vertex)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상태를 저장하는 점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3657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(Edge)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노드와 노드를 잇는 선 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36576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 그래프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방향만 이동 가능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3657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3776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무방향 그래프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이동 가능 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48740"/>
            <a:ext cx="4206240" cy="36576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9"/>
          <p:cNvSpPr/>
          <p:nvPr/>
        </p:nvSpPr>
        <p:spPr>
          <a:xfrm>
            <a:off x="5542768" y="2095604"/>
            <a:ext cx="22860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Shape 20"/>
          <p:cNvSpPr/>
          <p:nvPr/>
        </p:nvSpPr>
        <p:spPr>
          <a:xfrm>
            <a:off x="5394960" y="2077315"/>
            <a:ext cx="585216" cy="102087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Shape 21"/>
          <p:cNvSpPr/>
          <p:nvPr/>
        </p:nvSpPr>
        <p:spPr>
          <a:xfrm flipH="1">
            <a:off x="7397496" y="2103120"/>
            <a:ext cx="374904" cy="128179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989320" y="3098186"/>
            <a:ext cx="1399032" cy="273007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V="1">
            <a:off x="5486400" y="3384910"/>
            <a:ext cx="1901952" cy="54701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30368" y="184708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230368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16368" y="184708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516368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33288" y="283464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728716" y="2855055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67588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230368" y="3675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20890" y="3052466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132320" y="30906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99048" y="18059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간선(Edge)</a:t>
            </a:r>
            <a:endParaRPr lang="en-US" sz="1400" b="1" dirty="0"/>
          </a:p>
        </p:txBody>
      </p:sp>
      <p:sp>
        <p:nvSpPr>
          <p:cNvPr id="38" name="Text 36"/>
          <p:cNvSpPr/>
          <p:nvPr/>
        </p:nvSpPr>
        <p:spPr>
          <a:xfrm>
            <a:off x="4517136" y="22539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노드(Node)</a:t>
            </a:r>
            <a:endParaRPr lang="en-US" sz="1600" b="1" dirty="0"/>
          </a:p>
        </p:txBody>
      </p:sp>
      <p:sp>
        <p:nvSpPr>
          <p:cNvPr id="39" name="Shape 37"/>
          <p:cNvSpPr/>
          <p:nvPr/>
        </p:nvSpPr>
        <p:spPr>
          <a:xfrm>
            <a:off x="5230368" y="2286000"/>
            <a:ext cx="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방향 비순환 그래프(DAG, Directed Acyclic Graph)">
            <a:extLst>
              <a:ext uri="{FF2B5EF4-FFF2-40B4-BE49-F238E27FC236}">
                <a16:creationId xmlns:a16="http://schemas.microsoft.com/office/drawing/2014/main" id="{131DB79E-C70A-9F49-E4EF-2995637AA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" y="162903"/>
            <a:ext cx="7597140" cy="252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8E2441-310D-1B75-2F4E-67F705744E03}"/>
              </a:ext>
            </a:extLst>
          </p:cNvPr>
          <p:cNvSpPr txBox="1"/>
          <p:nvPr/>
        </p:nvSpPr>
        <p:spPr>
          <a:xfrm>
            <a:off x="601980" y="2810113"/>
            <a:ext cx="8542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무방향</a:t>
            </a:r>
            <a:r>
              <a:rPr lang="ko-KR" altLang="en-US" sz="1600" dirty="0"/>
              <a:t> 그래프</a:t>
            </a:r>
            <a:r>
              <a:rPr lang="en-US" altLang="ko-KR" sz="1600" dirty="0"/>
              <a:t>(</a:t>
            </a:r>
            <a:r>
              <a:rPr lang="ko-KR" altLang="en-US" sz="1600" dirty="0"/>
              <a:t>간선이 양방향</a:t>
            </a:r>
            <a:r>
              <a:rPr lang="en-US" altLang="ko-KR" sz="1600" dirty="0"/>
              <a:t>)                                        		</a:t>
            </a:r>
            <a:r>
              <a:rPr lang="ko-KR" altLang="en-US" sz="1600" dirty="0"/>
              <a:t>방향그래프</a:t>
            </a:r>
            <a:r>
              <a:rPr lang="en-US" altLang="ko-KR" sz="1600" dirty="0"/>
              <a:t>(</a:t>
            </a:r>
            <a:r>
              <a:rPr lang="ko-KR" altLang="en-US" sz="1600" dirty="0"/>
              <a:t>간선이 </a:t>
            </a:r>
            <a:r>
              <a:rPr lang="ko-KR" altLang="en-US" sz="1600" dirty="0" err="1"/>
              <a:t>일방향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9060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🌳 Tree (트리)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계층적 구조를 갖는 특수한 그래프 (사이클 없음)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413045" y="1207008"/>
            <a:ext cx="4206240" cy="36576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Tree</a:t>
            </a:r>
          </a:p>
        </p:txBody>
      </p:sp>
      <p:sp>
        <p:nvSpPr>
          <p:cNvPr id="9" name="Shape 7"/>
          <p:cNvSpPr/>
          <p:nvPr/>
        </p:nvSpPr>
        <p:spPr>
          <a:xfrm>
            <a:off x="6629400" y="1920240"/>
            <a:ext cx="868680" cy="82296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 flipH="1">
            <a:off x="5275044" y="2743200"/>
            <a:ext cx="485676" cy="91440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60720" y="2743200"/>
            <a:ext cx="502920" cy="91440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 flipH="1">
            <a:off x="7004304" y="2743200"/>
            <a:ext cx="493776" cy="886968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498080" y="2743200"/>
            <a:ext cx="502920" cy="91440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91656" y="168249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91656" y="16824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22976" y="25054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2297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0336" y="25054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6033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0056" y="34198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005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25896" y="34198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02589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57416" y="34198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75741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63256" y="341985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6325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79" y="1783080"/>
            <a:ext cx="747179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Root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1775815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0000"/>
                </a:solidFill>
              </a:rPr>
              <a:t>Level 0</a:t>
            </a:r>
          </a:p>
        </p:txBody>
      </p:sp>
      <p:sp>
        <p:nvSpPr>
          <p:cNvPr id="32" name="Text 30"/>
          <p:cNvSpPr/>
          <p:nvPr/>
        </p:nvSpPr>
        <p:spPr>
          <a:xfrm>
            <a:off x="4413045" y="3983841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0000"/>
                </a:solidFill>
              </a:rPr>
              <a:t>(Leaf 노드)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 용어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1664208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1664208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5760" y="166420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Root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16642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노드 (부모 없음)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2231136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65760" y="2231136"/>
            <a:ext cx="868680" cy="475488"/>
          </a:xfrm>
          <a:prstGeom prst="roundRect">
            <a:avLst>
              <a:gd name="adj" fmla="val 961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5760" y="223113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Parent/Child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5880" y="2231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상위/하위 관계의 노드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2798064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65760" y="2798064"/>
            <a:ext cx="868680" cy="475488"/>
          </a:xfrm>
          <a:prstGeom prst="roundRect">
            <a:avLst>
              <a:gd name="adj" fmla="val 961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65760" y="279806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Leaf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25880" y="27980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자식이 없는 끝 노드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364992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65760" y="3364992"/>
            <a:ext cx="868680" cy="475488"/>
          </a:xfrm>
          <a:prstGeom prst="roundRect">
            <a:avLst>
              <a:gd name="adj" fmla="val 961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65760" y="336499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Height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25880" y="33649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루트에서 리프까지 거리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3931920"/>
            <a:ext cx="3840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65760" y="393192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Text 50"/>
          <p:cNvSpPr/>
          <p:nvPr/>
        </p:nvSpPr>
        <p:spPr>
          <a:xfrm>
            <a:off x="365760" y="39319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이진 트리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25880" y="39319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자식이 최대 2개인 트리</a:t>
            </a:r>
            <a:endParaRPr lang="en-US" sz="1100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7B8A60F3-D4C4-5AD4-E84F-3BA59ABECA50}"/>
              </a:ext>
            </a:extLst>
          </p:cNvPr>
          <p:cNvSpPr/>
          <p:nvPr/>
        </p:nvSpPr>
        <p:spPr>
          <a:xfrm flipH="1">
            <a:off x="5805396" y="1920240"/>
            <a:ext cx="822960" cy="832104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13B4E235-138F-D9F5-D65A-FFE527154115}"/>
              </a:ext>
            </a:extLst>
          </p:cNvPr>
          <p:cNvSpPr/>
          <p:nvPr/>
        </p:nvSpPr>
        <p:spPr>
          <a:xfrm>
            <a:off x="4576050" y="2548483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0000"/>
                </a:solidFill>
              </a:rPr>
              <a:t>Level 1</a:t>
            </a: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6A03B8A0-B458-0967-8C77-F60B571A0E85}"/>
              </a:ext>
            </a:extLst>
          </p:cNvPr>
          <p:cNvSpPr/>
          <p:nvPr/>
        </p:nvSpPr>
        <p:spPr>
          <a:xfrm>
            <a:off x="4120813" y="3535785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0000"/>
                </a:solidFill>
              </a:rPr>
              <a:t>Level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ifference Between Tree and Graph (with Comparison chart) - Tech Differences">
            <a:extLst>
              <a:ext uri="{FF2B5EF4-FFF2-40B4-BE49-F238E27FC236}">
                <a16:creationId xmlns:a16="http://schemas.microsoft.com/office/drawing/2014/main" id="{0305ADDB-E1AD-2994-ACB5-680A56A5B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" y="89535"/>
            <a:ext cx="3507555" cy="220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inary Trees">
            <a:extLst>
              <a:ext uri="{FF2B5EF4-FFF2-40B4-BE49-F238E27FC236}">
                <a16:creationId xmlns:a16="http://schemas.microsoft.com/office/drawing/2014/main" id="{7705C78F-5972-26B2-5B3D-9AFCE4B09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312" y="296228"/>
            <a:ext cx="3318508" cy="188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EAA31-4870-876C-7400-B2F86865E22A}"/>
              </a:ext>
            </a:extLst>
          </p:cNvPr>
          <p:cNvSpPr txBox="1"/>
          <p:nvPr/>
        </p:nvSpPr>
        <p:spPr>
          <a:xfrm>
            <a:off x="4991100" y="2291953"/>
            <a:ext cx="2811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en-US" altLang="ko-KR" dirty="0"/>
              <a:t>(Binary Tree) : </a:t>
            </a:r>
          </a:p>
          <a:p>
            <a:r>
              <a:rPr lang="ko-KR" altLang="en-US" dirty="0"/>
              <a:t> </a:t>
            </a:r>
            <a:r>
              <a:rPr lang="ko-KR" altLang="en-US" sz="1600" dirty="0"/>
              <a:t>모든 노드가 자식이 </a:t>
            </a:r>
            <a:r>
              <a:rPr lang="en-US" altLang="ko-KR" sz="1600" dirty="0"/>
              <a:t>0~2</a:t>
            </a:r>
            <a:r>
              <a:rPr lang="ko-KR" altLang="en-US" sz="1600" dirty="0"/>
              <a:t>개</a:t>
            </a:r>
          </a:p>
        </p:txBody>
      </p:sp>
      <p:pic>
        <p:nvPicPr>
          <p:cNvPr id="2058" name="Picture 10" descr="Softeer 거리 합 구하기">
            <a:extLst>
              <a:ext uri="{FF2B5EF4-FFF2-40B4-BE49-F238E27FC236}">
                <a16:creationId xmlns:a16="http://schemas.microsoft.com/office/drawing/2014/main" id="{A2623681-27EB-E475-F1BA-22563A0FD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84" y="2371725"/>
            <a:ext cx="3178951" cy="268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07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Stack (스택)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  |  마지막에 넣은 것이 먼저 나온다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접시 쌓기와 같아요!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840480" cy="566928"/>
          </a:xfrm>
          <a:prstGeom prst="rect">
            <a:avLst/>
          </a:prstGeom>
          <a:solidFill>
            <a:srgbClr val="FED7A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스택에 넣기 (위에 쌓기)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 맨 위 데이터 꺼내기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https://www.youtube.com/shorts/5kJIoCZ8eEs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pic>
        <p:nvPicPr>
          <p:cNvPr id="4098" name="Picture 2" descr="Data Structures &amp; Algorithms] 스택(Stack)의 이해와 응용">
            <a:extLst>
              <a:ext uri="{FF2B5EF4-FFF2-40B4-BE49-F238E27FC236}">
                <a16:creationId xmlns:a16="http://schemas.microsoft.com/office/drawing/2014/main" id="{C306C0B7-FB56-88F4-4FEA-064EDE5D5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1301833"/>
            <a:ext cx="5082540" cy="300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🚶 Queue (큐)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In, First Out  |  먼저 넣은 것이 먼저 나온다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줄서기와 같아요!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2420" y="3703320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9580" y="3749040"/>
            <a:ext cx="2110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Enqueue(x) or push(x)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9580" y="39959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큐의 뒤(rear)에 데이터 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70332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8056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 or pop()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39959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큐의 앞(front)에서 데이터 제거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예시: BFS 탐색, 프린터 대기열, CPU 작업 스케줄링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0" y="2674620"/>
            <a:ext cx="68580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22" name="Picture 2" descr="자료구조] 큐 (Queue)">
            <a:extLst>
              <a:ext uri="{FF2B5EF4-FFF2-40B4-BE49-F238E27FC236}">
                <a16:creationId xmlns:a16="http://schemas.microsoft.com/office/drawing/2014/main" id="{CA6EE8D8-774A-8C69-F95A-DED92C3A3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9344"/>
            <a:ext cx="7187085" cy="203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Recursion (재귀)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함수가 자기 자신을 호출하는 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228600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factorial(n) 재귀 함수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   # 기저 조건!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factorial(n-1)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factorial(4) 호출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4 × factorial(3)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28269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4 × 3 × 2 × 1 = 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⚠️ 기저 조건(Base Case)이 없으면 무한 루프!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재귀 = 기저 조건 + 재귀 호출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4206240" cy="36576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factorial(4) 호출 스택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645920"/>
            <a:ext cx="22860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0" y="1645920"/>
            <a:ext cx="1485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16459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6FE"/>
                </a:solidFill>
              </a:rPr>
              <a:t>4 × 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210312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577840" y="2286000"/>
            <a:ext cx="21031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577840" y="2286000"/>
            <a:ext cx="136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81774" y="2286000"/>
            <a:ext cx="7991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6FE"/>
                </a:solidFill>
              </a:rPr>
              <a:t>3 × 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274320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669280" y="292608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0" y="2926080"/>
            <a:ext cx="1248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9829" y="2926080"/>
            <a:ext cx="7296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6FE"/>
                </a:solidFill>
              </a:rPr>
              <a:t>2 × 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29400" y="338328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760720" y="3566160"/>
            <a:ext cx="17373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0" y="3566160"/>
            <a:ext cx="112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37883" y="3566160"/>
            <a:ext cx="6601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6FE"/>
                </a:solidFill>
              </a:rPr>
              <a:t>1 × ...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29400" y="402336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852160" y="4206240"/>
            <a:ext cx="15544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52160" y="4206240"/>
            <a:ext cx="10104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factorial(0)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15938" y="4206240"/>
            <a:ext cx="5907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6FE"/>
                </a:solidFill>
              </a:rPr>
              <a:t>return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3200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⬆ 결과 반환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12480" y="4663440"/>
            <a:ext cx="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derstanding Recursion: Part 1/4 – Perpetual Enigma">
            <a:extLst>
              <a:ext uri="{FF2B5EF4-FFF2-40B4-BE49-F238E27FC236}">
                <a16:creationId xmlns:a16="http://schemas.microsoft.com/office/drawing/2014/main" id="{1931ABD0-7F8C-392A-270D-174654E7E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" y="151638"/>
            <a:ext cx="4601528" cy="368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Everything you need to know about Recursion In Python | Edureka">
            <a:extLst>
              <a:ext uri="{FF2B5EF4-FFF2-40B4-BE49-F238E27FC236}">
                <a16:creationId xmlns:a16="http://schemas.microsoft.com/office/drawing/2014/main" id="{EC8365E5-875D-CCFB-B125-2FCC523A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198" y="1158240"/>
            <a:ext cx="3712741" cy="188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73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BFS (너비 우선 탐색)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— 가까운 노드부터 탐색 (큐 사용)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순서: 1→2→3→4→5→6→7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시작 노드를 큐에 넣고 방문 표시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큐에서 노드를 꺼내 출력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0815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인접한 미방문 노드를 모두 큐에 추가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9417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7398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큐가 빌 때까지 ②③ 반복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4074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도구: Queue (큐)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활용: 최단 경로, SNS 친구 추천, 지도 길찾기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06240" cy="3657600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1216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BFS 탐색 순서 (숫자 = 방문 순서)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>
            <a:off x="5768236" y="1783080"/>
            <a:ext cx="861164" cy="78867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629400" y="1783080"/>
            <a:ext cx="914400" cy="82296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 flipH="1">
            <a:off x="5158844" y="2606040"/>
            <a:ext cx="556156" cy="996696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715000" y="2606040"/>
            <a:ext cx="594360" cy="96012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543800" y="2606040"/>
            <a:ext cx="0" cy="96012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43800" y="2606040"/>
            <a:ext cx="594360" cy="96012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317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40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978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69480" y="23317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2694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66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918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035040" y="32918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0350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675120" y="32918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6751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3232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863840" y="32918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210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663440" y="4114800"/>
            <a:ext cx="3977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663440" y="41148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Queue: [ 1 → 2 → 3 → 4 → 5 → 6 → 7 ]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DFS vs BFS">
            <a:extLst>
              <a:ext uri="{FF2B5EF4-FFF2-40B4-BE49-F238E27FC236}">
                <a16:creationId xmlns:a16="http://schemas.microsoft.com/office/drawing/2014/main" id="{9EE4F33F-6B68-734B-4E64-AECB11DF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4" y="327660"/>
            <a:ext cx="8306899" cy="34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F8CA60-CCC1-680E-A391-93897095135A}"/>
              </a:ext>
            </a:extLst>
          </p:cNvPr>
          <p:cNvSpPr txBox="1"/>
          <p:nvPr/>
        </p:nvSpPr>
        <p:spPr>
          <a:xfrm>
            <a:off x="1028700" y="3886200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BFS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071B3-0115-8CDB-7D85-D5053D90615E}"/>
              </a:ext>
            </a:extLst>
          </p:cNvPr>
          <p:cNvSpPr txBox="1"/>
          <p:nvPr/>
        </p:nvSpPr>
        <p:spPr>
          <a:xfrm>
            <a:off x="5875020" y="3853934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DFS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074E8-7485-D4DA-256C-9A64A4E9686C}"/>
              </a:ext>
            </a:extLst>
          </p:cNvPr>
          <p:cNvSpPr txBox="1"/>
          <p:nvPr/>
        </p:nvSpPr>
        <p:spPr>
          <a:xfrm>
            <a:off x="1274445" y="4446508"/>
            <a:ext cx="4743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https://www.youtube.com/shorts/umHJzlKFGlU</a:t>
            </a:r>
            <a:r>
              <a:rPr lang="ko-KR" altLang="en-US" dirty="0"/>
              <a:t> </a:t>
            </a:r>
            <a:r>
              <a:rPr lang="en-US" altLang="ko-KR" dirty="0"/>
              <a:t>-&gt;BFS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964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DFS (깊이 우선 탐색)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— 최대한 깊이 파고들며 탐색 (스택/재귀 사용)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순서: 1→2→4→5→3→6→7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시작 노드 방문, 스택에 넣기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인접한 미방문 노드로 이동 (깊이 우선)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0815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더 이상 갈 곳 없으면 되돌아감 (백트랙)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9417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7398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모든 노드 방문 시 종료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370832"/>
            <a:ext cx="39319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큐 | 너비 우선  /  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스택/재귀 | 깊이 우선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216152"/>
            <a:ext cx="4206240" cy="3657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0" y="1216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DFS 탐색 순서 (숫자 = 방문 순서)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5715000" y="1783080"/>
            <a:ext cx="914400" cy="82296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29400" y="1783080"/>
            <a:ext cx="914400" cy="82296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 flipH="1">
            <a:off x="5166360" y="2606040"/>
            <a:ext cx="548640" cy="996696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715000" y="2606040"/>
            <a:ext cx="594360" cy="9601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H="1">
            <a:off x="6949440" y="2606040"/>
            <a:ext cx="594360" cy="9601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543800" y="2606040"/>
            <a:ext cx="594360" cy="9601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40680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40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7672" y="23271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269480" y="23317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2694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266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84632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463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352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3504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350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922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67512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6751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3232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86384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210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63440" y="4114800"/>
            <a:ext cx="39776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663440" y="41148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경로: 1→2→4↩→5↩→↩3→6↩→7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DA8352-8EA7-D6E7-1286-6A5D57206806}"/>
              </a:ext>
            </a:extLst>
          </p:cNvPr>
          <p:cNvSpPr txBox="1"/>
          <p:nvPr/>
        </p:nvSpPr>
        <p:spPr>
          <a:xfrm>
            <a:off x="1973580" y="429074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https://www.youtube.com/shorts/1-elk8F8_UM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비교</a:t>
            </a:r>
          </a:p>
        </p:txBody>
      </p:sp>
      <p:pic>
        <p:nvPicPr>
          <p:cNvPr id="4" name="Picture 4" descr="DFS vs BFS">
            <a:extLst>
              <a:ext uri="{FF2B5EF4-FFF2-40B4-BE49-F238E27FC236}">
                <a16:creationId xmlns:a16="http://schemas.microsoft.com/office/drawing/2014/main" id="{B5BB0A5F-979C-1F3D-10A6-FF5E9B20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4" y="327660"/>
            <a:ext cx="8306899" cy="34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BE1E2D-B6BF-9B1C-CBFC-164460473DEA}"/>
              </a:ext>
            </a:extLst>
          </p:cNvPr>
          <p:cNvSpPr txBox="1"/>
          <p:nvPr/>
        </p:nvSpPr>
        <p:spPr>
          <a:xfrm>
            <a:off x="556260" y="362223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https://www.youtube.com/shorts/5Kl3L3kdGbs</a:t>
            </a:r>
            <a:r>
              <a:rPr lang="ko-KR" altLang="en-US" dirty="0"/>
              <a:t> </a:t>
            </a:r>
            <a:r>
              <a:rPr lang="en-US" altLang="ko-KR" dirty="0"/>
              <a:t>-&gt; DFS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06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9EFB-35BF-70BC-0C4B-A6F676D0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DFS vs BFS">
            <a:extLst>
              <a:ext uri="{FF2B5EF4-FFF2-40B4-BE49-F238E27FC236}">
                <a16:creationId xmlns:a16="http://schemas.microsoft.com/office/drawing/2014/main" id="{CD81FB94-980E-61A4-B99B-CC7870B37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4" y="327660"/>
            <a:ext cx="8306899" cy="345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AD0240-FD44-AC1B-55DF-4CFDF49BE7C9}"/>
              </a:ext>
            </a:extLst>
          </p:cNvPr>
          <p:cNvSpPr txBox="1"/>
          <p:nvPr/>
        </p:nvSpPr>
        <p:spPr>
          <a:xfrm>
            <a:off x="1028700" y="3886200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BFS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79D39-E2B9-4876-F1BF-18447C995609}"/>
              </a:ext>
            </a:extLst>
          </p:cNvPr>
          <p:cNvSpPr txBox="1"/>
          <p:nvPr/>
        </p:nvSpPr>
        <p:spPr>
          <a:xfrm>
            <a:off x="5875020" y="3853934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DFS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498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🔙 Backtracking (백트래킹)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모든 경우를 탐색하되, 불가능하면 즉시 되돌아간다!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미로찾기로 이해하기 🗺️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가다가 </a:t>
            </a: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돌아오기!
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DFS + 조건 검사 (가지치기)
→ 불가능한 경우를 빠르게 제거
→ 완전 탐색보다 훨씬 빠름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선택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선택지 중 하나를 고른다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644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32644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탐색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264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선택으로 DFS 탐색한다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85616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7856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 만족하는지 확인한다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06824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4306824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43068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백트랙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3068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불가능하면 이전 상태로 돌아간다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613" y="1261872"/>
            <a:ext cx="4206240" cy="36576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69493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백트래킹 탐색 트리 (가지치기)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8293" y="15544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98293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26893" y="1783080"/>
            <a:ext cx="0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72413" y="2331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80973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A=1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H="1">
            <a:off x="5780762" y="1783080"/>
            <a:ext cx="1146130" cy="69569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698293" y="2331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606853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A=2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26893" y="1783080"/>
            <a:ext cx="1325880" cy="7772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024173" y="2331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932733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A=3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H="1">
            <a:off x="5006653" y="2770632"/>
            <a:ext cx="426511" cy="658368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36"/>
          <p:cNvSpPr/>
          <p:nvPr/>
        </p:nvSpPr>
        <p:spPr>
          <a:xfrm>
            <a:off x="4759765" y="3227832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59765" y="3227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48930" y="364689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</a:rPr>
              <a:t>B=1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16043" y="2707376"/>
            <a:ext cx="76409" cy="74905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491285" y="32278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372413" y="3634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</a:rPr>
              <a:t>B=2</a:t>
            </a:r>
          </a:p>
        </p:txBody>
      </p:sp>
      <p:sp>
        <p:nvSpPr>
          <p:cNvPr id="44" name="Shape 42"/>
          <p:cNvSpPr/>
          <p:nvPr/>
        </p:nvSpPr>
        <p:spPr>
          <a:xfrm>
            <a:off x="5704227" y="2670048"/>
            <a:ext cx="719746" cy="75895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222805" y="32278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134622" y="362403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</a:rPr>
              <a:t>B=3</a:t>
            </a:r>
          </a:p>
        </p:txBody>
      </p:sp>
      <p:sp>
        <p:nvSpPr>
          <p:cNvPr id="47" name="Shape 45"/>
          <p:cNvSpPr/>
          <p:nvPr/>
        </p:nvSpPr>
        <p:spPr>
          <a:xfrm>
            <a:off x="6957581" y="2715768"/>
            <a:ext cx="289351" cy="71323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045765" y="32278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957582" y="362403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</a:rPr>
              <a:t>B=1</a:t>
            </a:r>
          </a:p>
        </p:txBody>
      </p:sp>
      <p:sp>
        <p:nvSpPr>
          <p:cNvPr id="50" name="Shape 48"/>
          <p:cNvSpPr/>
          <p:nvPr/>
        </p:nvSpPr>
        <p:spPr>
          <a:xfrm>
            <a:off x="4960933" y="419784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139742" y="4238244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143813" y="4352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99845" y="42336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가지치기 (Pruning) — 탐색 중단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43813" y="455371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143813" y="4553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63853" y="4572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탐색 (Valid path)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C00198-F891-D5ED-E5CC-59C07F650115}"/>
              </a:ext>
            </a:extLst>
          </p:cNvPr>
          <p:cNvSpPr txBox="1"/>
          <p:nvPr/>
        </p:nvSpPr>
        <p:spPr>
          <a:xfrm>
            <a:off x="4758690" y="449091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https://www.youtube.com/shorts/ULEtQ-OwFMQ</a:t>
            </a:r>
            <a:r>
              <a:rPr lang="ko-KR" altLang="en-US" dirty="0"/>
              <a:t> </a:t>
            </a:r>
            <a:r>
              <a:rPr lang="ko-KR" altLang="en-US" dirty="0" err="1"/>
              <a:t>미로찾기</a:t>
            </a:r>
            <a:r>
              <a:rPr lang="ko-KR" altLang="en-US" dirty="0"/>
              <a:t> </a:t>
            </a:r>
            <a:r>
              <a:rPr lang="en-US" altLang="ko-KR" dirty="0"/>
              <a:t>BT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183EE-CE08-8DA5-3313-C566D6A8CA3A}"/>
              </a:ext>
            </a:extLst>
          </p:cNvPr>
          <p:cNvSpPr txBox="1"/>
          <p:nvPr/>
        </p:nvSpPr>
        <p:spPr>
          <a:xfrm>
            <a:off x="582930" y="4047411"/>
            <a:ext cx="2884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https://www.youtube.com/shorts/hq3U5VE3MPY</a:t>
            </a:r>
            <a:r>
              <a:rPr lang="ko-KR" altLang="en-US" dirty="0"/>
              <a:t> </a:t>
            </a:r>
            <a:r>
              <a:rPr lang="en-US" altLang="ko-KR" dirty="0"/>
              <a:t>N-Queen BT</a:t>
            </a:r>
            <a:endParaRPr lang="ko-KR" altLang="en-US" dirty="0"/>
          </a:p>
        </p:txBody>
      </p:sp>
      <p:pic>
        <p:nvPicPr>
          <p:cNvPr id="8196" name="Picture 4" descr="Backtracking Algorithm Common Patterns and Code Template">
            <a:extLst>
              <a:ext uri="{FF2B5EF4-FFF2-40B4-BE49-F238E27FC236}">
                <a16:creationId xmlns:a16="http://schemas.microsoft.com/office/drawing/2014/main" id="{182D22E4-F3DA-EC4D-77AD-FF3480A41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17" y="406359"/>
            <a:ext cx="6520603" cy="366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880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Dijkstra (다익스트라)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그래프에서 최단 경로를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찾는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BFS</a:t>
            </a:r>
            <a:r>
              <a:rPr lang="ko-KR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랑 거의 동일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알고리즘 동작 방식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3192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노드 거리 = 0, 나머지 = ∞. </a:t>
            </a:r>
            <a:r>
              <a:rPr lang="ko-KR" alt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</a:t>
            </a:r>
            <a:r>
              <a:rPr lang="en-US" altLang="ko-KR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</a:t>
            </a:r>
            <a:r>
              <a:rPr lang="en-US" altLang="ko-KR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PQ)</a:t>
            </a:r>
            <a:r>
              <a:rPr lang="ko-KR" alt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</a:t>
            </a:r>
            <a:r>
              <a:rPr lang="ko-KR" alt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시작노드</a:t>
            </a:r>
            <a:r>
              <a:rPr lang="ko-KR" alt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삽입</a:t>
            </a:r>
            <a:r>
              <a:rPr lang="en-US" altLang="ko-KR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23957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dirty="0"/>
              <a:t>큐에서 가장 작은 이동거리 </a:t>
            </a:r>
            <a:r>
              <a:rPr lang="en-US" altLang="ko-KR" sz="1150" dirty="0"/>
              <a:t>POP, </a:t>
            </a:r>
            <a:r>
              <a:rPr lang="ko-KR" altLang="en-US" sz="1150" dirty="0"/>
              <a:t>인접 노드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393192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0540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dirty="0"/>
              <a:t>큐에서 뽑은 거리가 다음 노드까지의 거리보다 작다면</a:t>
            </a:r>
            <a:r>
              <a:rPr lang="en-US" altLang="ko-KR" sz="1150" dirty="0"/>
              <a:t>, </a:t>
            </a:r>
            <a:r>
              <a:rPr lang="ko-KR" altLang="en-US" sz="1150" dirty="0"/>
              <a:t>갱신 후 큐에 </a:t>
            </a:r>
            <a:r>
              <a:rPr lang="ko-KR" altLang="en-US" sz="1150" dirty="0" err="1"/>
              <a:t>다음노드</a:t>
            </a:r>
            <a:r>
              <a:rPr lang="ko-KR" altLang="en-US" sz="1150" dirty="0"/>
              <a:t> 삽입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712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노드 방문 시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시작노드</a:t>
            </a:r>
            <a:r>
              <a:rPr lang="en-US" altLang="ko-KR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목표노드</a:t>
            </a:r>
            <a:r>
              <a:rPr lang="ko-KR" alt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최단거리 완성</a:t>
            </a:r>
            <a:r>
              <a:rPr lang="en-US" altLang="ko-KR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3931920" cy="5029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도구: Priority Queue (우선순위 큐)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시간복잡도: O((V+E) log V)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216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다익스트라 시각화 (A에서 시작)</a:t>
            </a:r>
            <a:endParaRPr lang="en-US" sz="1100" dirty="0"/>
          </a:p>
        </p:txBody>
      </p:sp>
      <p:pic>
        <p:nvPicPr>
          <p:cNvPr id="1028" name="Picture 4" descr="알고리즘] Dijkstra Algorithm (다익스트라 알고리즘)">
            <a:extLst>
              <a:ext uri="{FF2B5EF4-FFF2-40B4-BE49-F238E27FC236}">
                <a16:creationId xmlns:a16="http://schemas.microsoft.com/office/drawing/2014/main" id="{BE9AC4C5-D772-248A-331A-DE590B923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832" y="1610609"/>
            <a:ext cx="4489356" cy="231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2F983C2-CEC1-699B-B42F-1091159823EA}"/>
              </a:ext>
            </a:extLst>
          </p:cNvPr>
          <p:cNvSpPr txBox="1"/>
          <p:nvPr/>
        </p:nvSpPr>
        <p:spPr>
          <a:xfrm>
            <a:off x="4511040" y="4139339"/>
            <a:ext cx="4256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https://www.youtube.com/shorts/XFE3XkWERnI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B6AB4C1-F617-7390-CF4F-9DC22610A9A6}"/>
              </a:ext>
            </a:extLst>
          </p:cNvPr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Arial Black" pitchFamily="34" charset="0"/>
              </a:rPr>
              <a:t>오늘의 문제</a:t>
            </a:r>
            <a:endParaRPr lang="en-US" sz="3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0C060D7D-6C48-B00C-3369-9CD1AEDF87FD}"/>
              </a:ext>
            </a:extLst>
          </p:cNvPr>
          <p:cNvSpPr/>
          <p:nvPr/>
        </p:nvSpPr>
        <p:spPr>
          <a:xfrm>
            <a:off x="502920" y="8732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C2626"/>
                </a:solidFill>
              </a:rPr>
              <a:t>스택 </a:t>
            </a:r>
            <a:r>
              <a:rPr lang="en-US" altLang="ko-KR" sz="1200" b="1" dirty="0">
                <a:solidFill>
                  <a:srgbClr val="DC2626"/>
                </a:solidFill>
              </a:rPr>
              <a:t>: </a:t>
            </a:r>
            <a:r>
              <a:rPr lang="en-US" sz="1200" b="1" dirty="0">
                <a:solidFill>
                  <a:srgbClr val="DC2626"/>
                </a:solidFill>
              </a:rPr>
              <a:t>. BOJ 9012 (</a:t>
            </a:r>
            <a:r>
              <a:rPr lang="ko-KR" altLang="en-US" sz="1200" b="1" dirty="0">
                <a:solidFill>
                  <a:srgbClr val="DC2626"/>
                </a:solidFill>
              </a:rPr>
              <a:t>괄호</a:t>
            </a:r>
            <a:r>
              <a:rPr lang="en-US" altLang="ko-KR" sz="1200" b="1" dirty="0">
                <a:solidFill>
                  <a:srgbClr val="DC2626"/>
                </a:solidFill>
              </a:rPr>
              <a:t>) </a:t>
            </a:r>
            <a:r>
              <a:rPr lang="en-US" sz="1200" b="1" dirty="0">
                <a:solidFill>
                  <a:srgbClr val="DC2626"/>
                </a:solidFill>
              </a:rPr>
              <a:t> </a:t>
            </a:r>
            <a:endParaRPr 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113FF3-D9FF-B4DE-F75A-FBF434FBC346}"/>
              </a:ext>
            </a:extLst>
          </p:cNvPr>
          <p:cNvSpPr/>
          <p:nvPr/>
        </p:nvSpPr>
        <p:spPr>
          <a:xfrm>
            <a:off x="365760" y="1334022"/>
            <a:ext cx="5740678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bg1"/>
                </a:solidFill>
              </a:rPr>
              <a:t>스택 </a:t>
            </a:r>
            <a:r>
              <a:rPr lang="en-US" altLang="ko-KR" b="1" dirty="0">
                <a:solidFill>
                  <a:schemeClr val="bg1"/>
                </a:solidFill>
              </a:rPr>
              <a:t>:  BOJ 9012 </a:t>
            </a:r>
            <a:r>
              <a:rPr lang="ko-KR" altLang="en-US" b="1" dirty="0">
                <a:solidFill>
                  <a:schemeClr val="bg1"/>
                </a:solidFill>
              </a:rPr>
              <a:t>괄호</a:t>
            </a:r>
            <a:r>
              <a:rPr lang="en-US" altLang="ko-KR" b="1" dirty="0">
                <a:solidFill>
                  <a:schemeClr val="bg1"/>
                </a:solidFill>
              </a:rPr>
              <a:t>, 9935 </a:t>
            </a:r>
            <a:r>
              <a:rPr lang="ko-KR" altLang="en-US" b="1" dirty="0">
                <a:solidFill>
                  <a:schemeClr val="bg1"/>
                </a:solidFill>
              </a:rPr>
              <a:t>문자열 폭발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FC17A7-1542-310E-3C11-9063E17FC0E1}"/>
              </a:ext>
            </a:extLst>
          </p:cNvPr>
          <p:cNvSpPr/>
          <p:nvPr/>
        </p:nvSpPr>
        <p:spPr>
          <a:xfrm>
            <a:off x="365759" y="2041680"/>
            <a:ext cx="5690575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bg1"/>
                </a:solidFill>
              </a:rPr>
              <a:t>재귀 </a:t>
            </a:r>
            <a:r>
              <a:rPr lang="en-US" altLang="ko-KR" b="1" dirty="0">
                <a:solidFill>
                  <a:schemeClr val="bg1"/>
                </a:solidFill>
              </a:rPr>
              <a:t>: 11729 </a:t>
            </a:r>
            <a:r>
              <a:rPr lang="ko-KR" altLang="en-US" b="1" dirty="0">
                <a:solidFill>
                  <a:schemeClr val="bg1"/>
                </a:solidFill>
              </a:rPr>
              <a:t>하노이 탑 이동 순서</a:t>
            </a:r>
            <a:r>
              <a:rPr lang="en-US" altLang="ko-KR" b="1" dirty="0">
                <a:solidFill>
                  <a:schemeClr val="bg1"/>
                </a:solidFill>
              </a:rPr>
              <a:t>, 5639 </a:t>
            </a:r>
            <a:r>
              <a:rPr lang="ko-KR" altLang="en-US" b="1" dirty="0">
                <a:solidFill>
                  <a:schemeClr val="bg1"/>
                </a:solidFill>
              </a:rPr>
              <a:t>이진 검색 트리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CECBE2-FC8D-B5A6-FC95-16EDB84E2F34}"/>
              </a:ext>
            </a:extLst>
          </p:cNvPr>
          <p:cNvSpPr/>
          <p:nvPr/>
        </p:nvSpPr>
        <p:spPr>
          <a:xfrm>
            <a:off x="365758" y="2749338"/>
            <a:ext cx="5690575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</a:rPr>
              <a:t>BFS,DFS : 2667 </a:t>
            </a:r>
            <a:r>
              <a:rPr lang="ko-KR" altLang="en-US" b="1" dirty="0" err="1">
                <a:solidFill>
                  <a:schemeClr val="bg1"/>
                </a:solidFill>
              </a:rPr>
              <a:t>단지번호붙이기</a:t>
            </a:r>
            <a:r>
              <a:rPr lang="en-US" altLang="ko-KR" b="1" dirty="0">
                <a:solidFill>
                  <a:schemeClr val="bg1"/>
                </a:solidFill>
              </a:rPr>
              <a:t>, 14502 </a:t>
            </a:r>
            <a:r>
              <a:rPr lang="ko-KR" altLang="en-US" b="1" dirty="0">
                <a:solidFill>
                  <a:schemeClr val="bg1"/>
                </a:solidFill>
              </a:rPr>
              <a:t>연구소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936A83-1B16-48B9-1897-F387DB85A831}"/>
              </a:ext>
            </a:extLst>
          </p:cNvPr>
          <p:cNvSpPr/>
          <p:nvPr/>
        </p:nvSpPr>
        <p:spPr>
          <a:xfrm>
            <a:off x="415863" y="3496098"/>
            <a:ext cx="5690575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>
                <a:solidFill>
                  <a:schemeClr val="bg1"/>
                </a:solidFill>
              </a:rPr>
              <a:t>백트랙킹</a:t>
            </a:r>
            <a:r>
              <a:rPr lang="en-US" altLang="ko-KR" b="1" dirty="0">
                <a:solidFill>
                  <a:schemeClr val="bg1"/>
                </a:solidFill>
              </a:rPr>
              <a:t>, </a:t>
            </a:r>
            <a:r>
              <a:rPr lang="en-US" altLang="ko-KR" b="1" dirty="0" err="1">
                <a:solidFill>
                  <a:schemeClr val="bg1"/>
                </a:solidFill>
              </a:rPr>
              <a:t>Djistra</a:t>
            </a:r>
            <a:r>
              <a:rPr lang="en-US" altLang="ko-KR" b="1" dirty="0">
                <a:solidFill>
                  <a:schemeClr val="bg1"/>
                </a:solidFill>
              </a:rPr>
              <a:t> : 1753 : </a:t>
            </a:r>
            <a:r>
              <a:rPr lang="ko-KR" altLang="en-US" b="1" dirty="0">
                <a:solidFill>
                  <a:schemeClr val="bg1"/>
                </a:solidFill>
              </a:rPr>
              <a:t>최단경로</a:t>
            </a:r>
            <a:r>
              <a:rPr lang="en-US" altLang="ko-KR" b="1" dirty="0">
                <a:solidFill>
                  <a:schemeClr val="bg1"/>
                </a:solidFill>
              </a:rPr>
              <a:t>, 9663 N-Queen</a:t>
            </a:r>
          </a:p>
        </p:txBody>
      </p:sp>
    </p:spTree>
    <p:extLst>
      <p:ext uri="{BB962C8B-B14F-4D97-AF65-F5344CB8AC3E}">
        <p14:creationId xmlns:p14="http://schemas.microsoft.com/office/powerpoint/2010/main" val="192948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1070</Words>
  <Application>Microsoft Office PowerPoint</Application>
  <PresentationFormat>화면 슬라이드 쇼(16:9)</PresentationFormat>
  <Paragraphs>232</Paragraphs>
  <Slides>19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실전 자료구조 &amp; 알고리즘 - 1차시</dc:title>
  <dc:subject>PptxGenJS Presentation</dc:subject>
  <dc:creator>PptxGenJS</dc:creator>
  <cp:lastModifiedBy>양하정</cp:lastModifiedBy>
  <cp:revision>2</cp:revision>
  <dcterms:created xsi:type="dcterms:W3CDTF">2026-03-18T11:02:38Z</dcterms:created>
  <dcterms:modified xsi:type="dcterms:W3CDTF">2026-03-18T12:01:35Z</dcterms:modified>
</cp:coreProperties>
</file>