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72" r:id="rId5"/>
    <p:sldId id="259" r:id="rId6"/>
    <p:sldId id="271" r:id="rId7"/>
    <p:sldId id="260" r:id="rId8"/>
    <p:sldId id="261" r:id="rId9"/>
    <p:sldId id="262" r:id="rId10"/>
    <p:sldId id="273" r:id="rId11"/>
    <p:sldId id="263" r:id="rId12"/>
    <p:sldId id="274" r:id="rId13"/>
    <p:sldId id="264" r:id="rId14"/>
    <p:sldId id="275" r:id="rId15"/>
    <p:sldId id="276" r:id="rId16"/>
    <p:sldId id="265" r:id="rId17"/>
    <p:sldId id="277" r:id="rId18"/>
    <p:sldId id="268" r:id="rId19"/>
    <p:sldId id="270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38" autoAdjust="0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108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3101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5kJIoCZ8eE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umHJzlKFGlU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www.youtube.com/shorts/1-elk8F8_UM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shorts/5Kl3L3kdGbs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hq3U5VE3MPY" TargetMode="External"/><Relationship Id="rId2" Type="http://schemas.openxmlformats.org/officeDocument/2006/relationships/hyperlink" Target="https://www.youtube.com/shorts/ULEtQ-OwFMQ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shorts/XFE3XkWERnI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543800" y="182880"/>
            <a:ext cx="1005840" cy="10058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458200" y="45720"/>
            <a:ext cx="457200" cy="45720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365760" cy="365760"/>
          </a:xfrm>
          <a:prstGeom prst="ellipse">
            <a:avLst/>
          </a:prstGeom>
          <a:solidFill>
            <a:srgbClr val="93C5FD"/>
          </a:solidFill>
          <a:ln w="127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실전 자료구조 &amp; 알고리즘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1차시 — </a:t>
            </a:r>
            <a:r>
              <a:rPr lang="ko-KR" alt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그래프와 그래프 순회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0040" y="3200400"/>
            <a:ext cx="1325880" cy="411480"/>
          </a:xfrm>
          <a:prstGeom prst="roundRect">
            <a:avLst>
              <a:gd name="adj" fmla="val 1111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320040" y="32004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&amp; Tree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764792" y="3200400"/>
            <a:ext cx="1325880" cy="411480"/>
          </a:xfrm>
          <a:prstGeom prst="roundRect">
            <a:avLst>
              <a:gd name="adj" fmla="val 11111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764792" y="32004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Queue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9544" y="3200400"/>
            <a:ext cx="1325880" cy="411480"/>
          </a:xfrm>
          <a:prstGeom prst="roundRect">
            <a:avLst>
              <a:gd name="adj" fmla="val 11111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209544" y="32004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54296" y="3200400"/>
            <a:ext cx="1325880" cy="411480"/>
          </a:xfrm>
          <a:prstGeom prst="roundRect">
            <a:avLst>
              <a:gd name="adj" fmla="val 11111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654296" y="32004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BFS / DFS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99048" y="3200400"/>
            <a:ext cx="1325880" cy="411480"/>
          </a:xfrm>
          <a:prstGeom prst="roundRect">
            <a:avLst>
              <a:gd name="adj" fmla="val 11111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099048" y="32004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Backtracking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43800" y="3200400"/>
            <a:ext cx="1325880" cy="411480"/>
          </a:xfrm>
          <a:prstGeom prst="roundRect">
            <a:avLst>
              <a:gd name="adj" fmla="val 11111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7543800" y="32004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r>
              <a:rPr lang="ko-KR" alt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 뽑아준 </a:t>
            </a:r>
            <a:r>
              <a:rPr lang="ko-KR" altLang="en-US" sz="12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개쩌는</a:t>
            </a:r>
            <a:r>
              <a:rPr lang="ko-KR" alt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PPT!</a:t>
            </a:r>
            <a:endParaRPr lang="en-US" sz="1200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9334118D-939B-05FC-6FED-B45DCBFF5B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426431" y="-345970"/>
            <a:ext cx="1377739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📋 오늘 배울 내용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4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중간에 모르면 제발 물어보세요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2560320" cy="1463040"/>
          </a:xfrm>
          <a:prstGeom prst="rect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13716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563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75488" y="18288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&amp; Tree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" y="21945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그래프와 트리의 개념, 종류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280160"/>
            <a:ext cx="2560320" cy="1463040"/>
          </a:xfrm>
          <a:prstGeom prst="rect">
            <a:avLst/>
          </a:prstGeom>
          <a:solidFill>
            <a:srgbClr val="DCFCE7"/>
          </a:solidFill>
          <a:ln w="1905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310128" y="13716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A3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310128" y="18288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Queue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10128" y="21945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스택, 큐, 우선순위 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280160"/>
            <a:ext cx="2560320" cy="1463040"/>
          </a:xfrm>
          <a:prstGeom prst="rect">
            <a:avLst/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144768" y="13716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144768" y="18288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44768" y="21945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재귀 함수의 개념과 원리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017520"/>
            <a:ext cx="2560320" cy="1463040"/>
          </a:xfrm>
          <a:prstGeom prst="rect">
            <a:avLst/>
          </a:prstGeom>
          <a:solidFill>
            <a:srgbClr val="FED7AA"/>
          </a:solidFill>
          <a:ln w="19050">
            <a:solidFill>
              <a:srgbClr val="EA580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75488" y="31089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58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75488" y="356616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BFS &amp; DFS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5488" y="393192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그래프 탐색 알고리즘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0" y="3017520"/>
            <a:ext cx="2560320" cy="1463040"/>
          </a:xfrm>
          <a:prstGeom prst="rect">
            <a:avLst/>
          </a:prstGeom>
          <a:solidFill>
            <a:srgbClr val="CFFAFE"/>
          </a:solidFill>
          <a:ln w="1905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3310128" y="31089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3310128" y="356616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Backtracking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310128" y="393192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N-Queen 문제로 배우기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35040" y="3017520"/>
            <a:ext cx="2560320" cy="1463040"/>
          </a:xfrm>
          <a:prstGeom prst="rect">
            <a:avLst/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144768" y="31089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6144768" y="356616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144768" y="393192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최단 경로 알고리즘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🔗 Graph (그래프)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노드(Node)와 엣지(Edge)로 이루어진 자료구조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그래프란?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627632"/>
            <a:ext cx="3657600" cy="594360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02920" y="16642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노드 (Node / Vertex)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92024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상태를 저장하는 점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331720"/>
            <a:ext cx="365760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02920" y="236829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엣지 (Edge)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262432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노드와 노드를 잇는 선 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035808"/>
            <a:ext cx="3657600" cy="594360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02920" y="307238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방향 그래프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332841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방향만 이동 가능 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739896"/>
            <a:ext cx="365760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502920" y="377647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무방향 그래프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403250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양방향 이동 가능 ↔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1348740"/>
            <a:ext cx="4206240" cy="3657600"/>
          </a:xfrm>
          <a:prstGeom prst="rect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19"/>
          <p:cNvSpPr/>
          <p:nvPr/>
        </p:nvSpPr>
        <p:spPr>
          <a:xfrm>
            <a:off x="5542768" y="2095604"/>
            <a:ext cx="2286000" cy="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Shape 20"/>
          <p:cNvSpPr/>
          <p:nvPr/>
        </p:nvSpPr>
        <p:spPr>
          <a:xfrm>
            <a:off x="5394960" y="2077315"/>
            <a:ext cx="585216" cy="102087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" name="Shape 21"/>
          <p:cNvSpPr/>
          <p:nvPr/>
        </p:nvSpPr>
        <p:spPr>
          <a:xfrm flipH="1">
            <a:off x="7397496" y="2103120"/>
            <a:ext cx="374904" cy="128179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5989320" y="3098186"/>
            <a:ext cx="1399032" cy="273007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 flipV="1">
            <a:off x="5486400" y="3384910"/>
            <a:ext cx="1901952" cy="54701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5230368" y="1847088"/>
            <a:ext cx="512064" cy="51206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230368" y="18470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516368" y="1847088"/>
            <a:ext cx="512064" cy="51206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516368" y="18470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33288" y="2834640"/>
            <a:ext cx="512064" cy="51206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5728716" y="2855055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230368" y="3675888"/>
            <a:ext cx="512064" cy="51206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230368" y="3675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120890" y="3052466"/>
            <a:ext cx="512064" cy="51206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7132320" y="309067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099048" y="18059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</a:rPr>
              <a:t>간선(Edge)</a:t>
            </a:r>
            <a:endParaRPr lang="en-US" sz="1400" b="1" dirty="0"/>
          </a:p>
        </p:txBody>
      </p:sp>
      <p:sp>
        <p:nvSpPr>
          <p:cNvPr id="38" name="Text 36"/>
          <p:cNvSpPr/>
          <p:nvPr/>
        </p:nvSpPr>
        <p:spPr>
          <a:xfrm>
            <a:off x="4517136" y="225399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</a:rPr>
              <a:t>노드(Node)</a:t>
            </a:r>
            <a:endParaRPr lang="en-US" sz="1600" b="1" dirty="0"/>
          </a:p>
        </p:txBody>
      </p:sp>
      <p:sp>
        <p:nvSpPr>
          <p:cNvPr id="39" name="Shape 37"/>
          <p:cNvSpPr/>
          <p:nvPr/>
        </p:nvSpPr>
        <p:spPr>
          <a:xfrm>
            <a:off x="5230368" y="2286000"/>
            <a:ext cx="0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방향 비순환 그래프(DAG, Directed Acyclic Graph)">
            <a:extLst>
              <a:ext uri="{FF2B5EF4-FFF2-40B4-BE49-F238E27FC236}">
                <a16:creationId xmlns:a16="http://schemas.microsoft.com/office/drawing/2014/main" id="{131DB79E-C70A-9F49-E4EF-2995637AAC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660" y="162903"/>
            <a:ext cx="7597140" cy="2523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8E2441-310D-1B75-2F4E-67F705744E03}"/>
              </a:ext>
            </a:extLst>
          </p:cNvPr>
          <p:cNvSpPr txBox="1"/>
          <p:nvPr/>
        </p:nvSpPr>
        <p:spPr>
          <a:xfrm>
            <a:off x="601980" y="2810113"/>
            <a:ext cx="8542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err="1"/>
              <a:t>무방향</a:t>
            </a:r>
            <a:r>
              <a:rPr lang="ko-KR" altLang="en-US" sz="1600" dirty="0"/>
              <a:t> 그래프</a:t>
            </a:r>
            <a:r>
              <a:rPr lang="en-US" altLang="ko-KR" sz="1600" dirty="0"/>
              <a:t>(</a:t>
            </a:r>
            <a:r>
              <a:rPr lang="ko-KR" altLang="en-US" sz="1600" dirty="0"/>
              <a:t>간선이 양방향</a:t>
            </a:r>
            <a:r>
              <a:rPr lang="en-US" altLang="ko-KR" sz="1600" dirty="0"/>
              <a:t>)                                        		</a:t>
            </a:r>
            <a:r>
              <a:rPr lang="ko-KR" altLang="en-US" sz="1600" dirty="0"/>
              <a:t>방향그래프</a:t>
            </a:r>
            <a:r>
              <a:rPr lang="en-US" altLang="ko-KR" sz="1600" dirty="0"/>
              <a:t>(</a:t>
            </a:r>
            <a:r>
              <a:rPr lang="ko-KR" altLang="en-US" sz="1600" dirty="0"/>
              <a:t>간선이 </a:t>
            </a:r>
            <a:r>
              <a:rPr lang="ko-KR" altLang="en-US" sz="1600" dirty="0" err="1"/>
              <a:t>일방향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790601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🌳 Tree (트리)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계층적 구조를 갖는 특수한 그래프 (사이클 없음)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413045" y="1207008"/>
            <a:ext cx="4206240" cy="3657600"/>
          </a:xfrm>
          <a:prstGeom prst="rect">
            <a:avLst/>
          </a:prstGeom>
          <a:solidFill>
            <a:srgbClr val="DCFCE7"/>
          </a:solidFill>
          <a:ln w="1905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0" y="12344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/>
              <a:t>Tree</a:t>
            </a:r>
          </a:p>
        </p:txBody>
      </p:sp>
      <p:sp>
        <p:nvSpPr>
          <p:cNvPr id="9" name="Shape 7"/>
          <p:cNvSpPr/>
          <p:nvPr/>
        </p:nvSpPr>
        <p:spPr>
          <a:xfrm>
            <a:off x="6629400" y="1920240"/>
            <a:ext cx="868680" cy="822960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 flipH="1">
            <a:off x="5275044" y="2743200"/>
            <a:ext cx="485676" cy="914400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760720" y="2743200"/>
            <a:ext cx="502920" cy="914400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 flipH="1">
            <a:off x="7004304" y="2743200"/>
            <a:ext cx="493776" cy="886968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7498080" y="2743200"/>
            <a:ext cx="502920" cy="914400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391656" y="1682496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391656" y="168249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522976" y="2505456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5522976" y="25054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0336" y="2505456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260336" y="25054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0056" y="3419856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020056" y="34198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025896" y="3419856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025896" y="34198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757416" y="3419856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757416" y="34198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63256" y="3419856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7763256" y="34198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12279" y="1783080"/>
            <a:ext cx="747179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C2626"/>
                </a:solidFill>
              </a:rPr>
              <a:t>Root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663440" y="1775815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0000"/>
                </a:solidFill>
              </a:rPr>
              <a:t>Level 0</a:t>
            </a:r>
          </a:p>
        </p:txBody>
      </p:sp>
      <p:sp>
        <p:nvSpPr>
          <p:cNvPr id="32" name="Text 30"/>
          <p:cNvSpPr/>
          <p:nvPr/>
        </p:nvSpPr>
        <p:spPr>
          <a:xfrm>
            <a:off x="4413045" y="3983841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0000"/>
                </a:solidFill>
              </a:rPr>
              <a:t>(Leaf 노드)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365760" y="1234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트리 용어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5760" y="1664208"/>
            <a:ext cx="38404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365760" y="1664208"/>
            <a:ext cx="868680" cy="475488"/>
          </a:xfrm>
          <a:prstGeom prst="roundRect">
            <a:avLst>
              <a:gd name="adj" fmla="val 9615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365760" y="1664208"/>
            <a:ext cx="868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Root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325880" y="16642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최상위 노드 (부모 없음)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65760" y="2231136"/>
            <a:ext cx="38404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365760" y="2231136"/>
            <a:ext cx="868680" cy="475488"/>
          </a:xfrm>
          <a:prstGeom prst="roundRect">
            <a:avLst>
              <a:gd name="adj" fmla="val 961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365760" y="2231136"/>
            <a:ext cx="868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Parent/Child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325880" y="2231136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상위/하위 관계의 노드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5760" y="2798064"/>
            <a:ext cx="38404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905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365760" y="2798064"/>
            <a:ext cx="868680" cy="475488"/>
          </a:xfrm>
          <a:prstGeom prst="roundRect">
            <a:avLst>
              <a:gd name="adj" fmla="val 9615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365760" y="2798064"/>
            <a:ext cx="868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Leaf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325880" y="2798064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자식이 없는 끝 노드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65760" y="3364992"/>
            <a:ext cx="38404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365760" y="3364992"/>
            <a:ext cx="868680" cy="475488"/>
          </a:xfrm>
          <a:prstGeom prst="roundRect">
            <a:avLst>
              <a:gd name="adj" fmla="val 961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365760" y="3364992"/>
            <a:ext cx="868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Height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1325880" y="3364992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루트에서 리프까지 거리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65760" y="3931920"/>
            <a:ext cx="38404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365760" y="3931920"/>
            <a:ext cx="868680" cy="475488"/>
          </a:xfrm>
          <a:prstGeom prst="roundRect">
            <a:avLst>
              <a:gd name="adj" fmla="val 9615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2" name="Text 50"/>
          <p:cNvSpPr/>
          <p:nvPr/>
        </p:nvSpPr>
        <p:spPr>
          <a:xfrm>
            <a:off x="365760" y="3931920"/>
            <a:ext cx="868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이진 트리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325880" y="393192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자식이 최대 2개인 트리</a:t>
            </a:r>
            <a:endParaRPr lang="en-US" sz="1100" dirty="0"/>
          </a:p>
        </p:txBody>
      </p:sp>
      <p:sp>
        <p:nvSpPr>
          <p:cNvPr id="54" name="Shape 6">
            <a:extLst>
              <a:ext uri="{FF2B5EF4-FFF2-40B4-BE49-F238E27FC236}">
                <a16:creationId xmlns:a16="http://schemas.microsoft.com/office/drawing/2014/main" id="{7B8A60F3-D4C4-5AD4-E84F-3BA59ABECA50}"/>
              </a:ext>
            </a:extLst>
          </p:cNvPr>
          <p:cNvSpPr/>
          <p:nvPr/>
        </p:nvSpPr>
        <p:spPr>
          <a:xfrm flipH="1">
            <a:off x="5805396" y="1920240"/>
            <a:ext cx="822960" cy="832104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27">
            <a:extLst>
              <a:ext uri="{FF2B5EF4-FFF2-40B4-BE49-F238E27FC236}">
                <a16:creationId xmlns:a16="http://schemas.microsoft.com/office/drawing/2014/main" id="{13B4E235-138F-D9F5-D65A-FFE527154115}"/>
              </a:ext>
            </a:extLst>
          </p:cNvPr>
          <p:cNvSpPr/>
          <p:nvPr/>
        </p:nvSpPr>
        <p:spPr>
          <a:xfrm>
            <a:off x="4576050" y="2548483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0000"/>
                </a:solidFill>
              </a:rPr>
              <a:t>Level 1</a:t>
            </a:r>
          </a:p>
        </p:txBody>
      </p:sp>
      <p:sp>
        <p:nvSpPr>
          <p:cNvPr id="56" name="Text 27">
            <a:extLst>
              <a:ext uri="{FF2B5EF4-FFF2-40B4-BE49-F238E27FC236}">
                <a16:creationId xmlns:a16="http://schemas.microsoft.com/office/drawing/2014/main" id="{6A03B8A0-B458-0967-8C77-F60B571A0E85}"/>
              </a:ext>
            </a:extLst>
          </p:cNvPr>
          <p:cNvSpPr/>
          <p:nvPr/>
        </p:nvSpPr>
        <p:spPr>
          <a:xfrm>
            <a:off x="4120813" y="3535785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0000"/>
                </a:solidFill>
              </a:rPr>
              <a:t>Level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Difference Between Tree and Graph (with Comparison chart) - Tech Differences">
            <a:extLst>
              <a:ext uri="{FF2B5EF4-FFF2-40B4-BE49-F238E27FC236}">
                <a16:creationId xmlns:a16="http://schemas.microsoft.com/office/drawing/2014/main" id="{0305ADDB-E1AD-2994-ACB5-680A56A5B0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" y="89535"/>
            <a:ext cx="3507555" cy="2202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Binary Trees">
            <a:extLst>
              <a:ext uri="{FF2B5EF4-FFF2-40B4-BE49-F238E27FC236}">
                <a16:creationId xmlns:a16="http://schemas.microsoft.com/office/drawing/2014/main" id="{7705C78F-5972-26B2-5B3D-9AFCE4B09D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6312" y="296228"/>
            <a:ext cx="3318508" cy="1881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5FEAA31-4870-876C-7400-B2F86865E22A}"/>
              </a:ext>
            </a:extLst>
          </p:cNvPr>
          <p:cNvSpPr txBox="1"/>
          <p:nvPr/>
        </p:nvSpPr>
        <p:spPr>
          <a:xfrm>
            <a:off x="4991100" y="2291953"/>
            <a:ext cx="2811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이진트리</a:t>
            </a:r>
            <a:r>
              <a:rPr lang="en-US" altLang="ko-KR" dirty="0"/>
              <a:t>(Binary Tree) : </a:t>
            </a:r>
          </a:p>
          <a:p>
            <a:r>
              <a:rPr lang="ko-KR" altLang="en-US" dirty="0"/>
              <a:t> </a:t>
            </a:r>
            <a:r>
              <a:rPr lang="ko-KR" altLang="en-US" sz="1600" dirty="0"/>
              <a:t>모든 노드가 자식이 </a:t>
            </a:r>
            <a:r>
              <a:rPr lang="en-US" altLang="ko-KR" sz="1600" dirty="0"/>
              <a:t>0~2</a:t>
            </a:r>
            <a:r>
              <a:rPr lang="ko-KR" altLang="en-US" sz="1600" dirty="0"/>
              <a:t>개</a:t>
            </a:r>
          </a:p>
        </p:txBody>
      </p:sp>
      <p:pic>
        <p:nvPicPr>
          <p:cNvPr id="2058" name="Picture 10" descr="Softeer 거리 합 구하기">
            <a:extLst>
              <a:ext uri="{FF2B5EF4-FFF2-40B4-BE49-F238E27FC236}">
                <a16:creationId xmlns:a16="http://schemas.microsoft.com/office/drawing/2014/main" id="{A2623681-27EB-E475-F1BA-22563A0FDA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284" y="2371725"/>
            <a:ext cx="3178951" cy="2682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7077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📚 Stack (스택)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LIFO — Last In, First Out  |  마지막에 넣은 것이 먼저 나온다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🍽️ 접시 쌓기와 같아요!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3840480" cy="566928"/>
          </a:xfrm>
          <a:prstGeom prst="rect">
            <a:avLst/>
          </a:prstGeom>
          <a:solidFill>
            <a:srgbClr val="FED7A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02920" y="17373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push(x)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98424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데이터를 스택에 넣기 (위에 쌓기)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350008"/>
            <a:ext cx="3840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02920" y="239572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pop()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264261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스택 맨 위 데이터 꺼내기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43891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https://www.youtube.com/shorts/5kJIoCZ8eEs</a:t>
            </a: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</p:txBody>
      </p:sp>
      <p:pic>
        <p:nvPicPr>
          <p:cNvPr id="4098" name="Picture 2" descr="Data Structures &amp; Algorithms] 스택(Stack)의 이해와 응용">
            <a:extLst>
              <a:ext uri="{FF2B5EF4-FFF2-40B4-BE49-F238E27FC236}">
                <a16:creationId xmlns:a16="http://schemas.microsoft.com/office/drawing/2014/main" id="{C306C0B7-FB56-88F4-4FEA-064EDE5D5A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240" y="1301833"/>
            <a:ext cx="5082540" cy="300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🚶 Queue (큐)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— First In, First Out  |  먼저 넣은 것이 먼저 나온다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🏪 줄서기와 같아요!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12420" y="3703320"/>
            <a:ext cx="3840480" cy="566928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49580" y="3749040"/>
            <a:ext cx="2110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Enqueue(x) or push(x)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9580" y="39959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큐의 뒤(rear)에 데이터 추가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3703320"/>
            <a:ext cx="3840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480560" y="374904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dequeue() or pop()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80560" y="39959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큐의 앞(front)에서 데이터 제거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43891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 예시: BFS 탐색, 프린터 대기열, CPU 작업 스케줄링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31920" y="2674620"/>
            <a:ext cx="685800" cy="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122" name="Picture 2" descr="자료구조] 큐 (Queue)">
            <a:extLst>
              <a:ext uri="{FF2B5EF4-FFF2-40B4-BE49-F238E27FC236}">
                <a16:creationId xmlns:a16="http://schemas.microsoft.com/office/drawing/2014/main" id="{CA6EE8D8-774A-8C69-F95A-DED92C3A39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609344"/>
            <a:ext cx="7187085" cy="2038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🔄 Recursion (재귀)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함수가 자기 자신을 호출하는 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3931920" cy="2286000"/>
          </a:xfrm>
          <a:prstGeom prst="rect">
            <a:avLst/>
          </a:prstGeom>
          <a:solidFill>
            <a:srgbClr val="1E1E2E"/>
          </a:solidFill>
          <a:ln w="1905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26187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factorial(n) 재귀 함수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factorial(n):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180136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== 0:    # 기저 조건!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2048256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2295144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 * factorial(n-1)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542032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788920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factorial(4) 호출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03580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= 4 × factorial(3)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3282696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= 4 × 3 × 2 × 1 = 24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3639312"/>
            <a:ext cx="3931920" cy="502920"/>
          </a:xfrm>
          <a:prstGeom prst="roundRect">
            <a:avLst>
              <a:gd name="adj" fmla="val 9091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</a:rPr>
              <a:t>⚠️ 기저 조건(Base Case)이 없으면 무한 루프!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42519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재귀 = 기저 조건 + 재귀 호출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1188720"/>
            <a:ext cx="4206240" cy="3657600"/>
          </a:xfrm>
          <a:prstGeom prst="rect">
            <a:avLst/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572000" y="12344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</a:rPr>
              <a:t>factorial(4) 호출 스택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0" y="1645920"/>
            <a:ext cx="228600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486400" y="1645920"/>
            <a:ext cx="14859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factorial(4)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903720" y="164592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D6FE"/>
                </a:solidFill>
              </a:rPr>
              <a:t>4 × ...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629400" y="2103120"/>
            <a:ext cx="0" cy="18288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5577840" y="2286000"/>
            <a:ext cx="2103120" cy="457200"/>
          </a:xfrm>
          <a:prstGeom prst="rect">
            <a:avLst/>
          </a:prstGeom>
          <a:solidFill>
            <a:srgbClr val="6D28D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577840" y="2286000"/>
            <a:ext cx="13670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factorial(3)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881774" y="2286000"/>
            <a:ext cx="7991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D6FE"/>
                </a:solidFill>
              </a:rPr>
              <a:t>3 × ...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629400" y="2743200"/>
            <a:ext cx="0" cy="18288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5669280" y="2926080"/>
            <a:ext cx="192024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669280" y="2926080"/>
            <a:ext cx="12481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factorial(2)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859829" y="2926080"/>
            <a:ext cx="72969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D6FE"/>
                </a:solidFill>
              </a:rPr>
              <a:t>2 × ...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629400" y="3383280"/>
            <a:ext cx="0" cy="18288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5760720" y="3566160"/>
            <a:ext cx="1737360" cy="457200"/>
          </a:xfrm>
          <a:prstGeom prst="rect">
            <a:avLst/>
          </a:prstGeom>
          <a:solidFill>
            <a:srgbClr val="8B5CF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760720" y="3566160"/>
            <a:ext cx="112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factorial(1)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837883" y="3566160"/>
            <a:ext cx="66019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D6FE"/>
                </a:solidFill>
              </a:rPr>
              <a:t>1 × ...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629400" y="4023360"/>
            <a:ext cx="0" cy="18288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5852160" y="4206240"/>
            <a:ext cx="1554480" cy="457200"/>
          </a:xfrm>
          <a:prstGeom prst="rect">
            <a:avLst/>
          </a:prstGeom>
          <a:solidFill>
            <a:srgbClr val="A78BF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5852160" y="4206240"/>
            <a:ext cx="10104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factorial(0)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815938" y="4206240"/>
            <a:ext cx="59070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D6FE"/>
                </a:solidFill>
              </a:rPr>
              <a:t>return 1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229600" y="32004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6A34A"/>
                </a:solidFill>
              </a:rPr>
              <a:t>⬆ 결과 반환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412480" y="4663440"/>
            <a:ext cx="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dash"/>
            <a:tailEnd type="triangle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Understanding Recursion: Part 1/4 – Perpetual Enigma">
            <a:extLst>
              <a:ext uri="{FF2B5EF4-FFF2-40B4-BE49-F238E27FC236}">
                <a16:creationId xmlns:a16="http://schemas.microsoft.com/office/drawing/2014/main" id="{1931ABD0-7F8C-392A-270D-174654E7E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" y="151638"/>
            <a:ext cx="4601528" cy="3681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Everything you need to know about Recursion In Python | Edureka">
            <a:extLst>
              <a:ext uri="{FF2B5EF4-FFF2-40B4-BE49-F238E27FC236}">
                <a16:creationId xmlns:a16="http://schemas.microsoft.com/office/drawing/2014/main" id="{EC8365E5-875D-CCFB-B125-2FCC523A8C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1198" y="1158240"/>
            <a:ext cx="3712741" cy="1886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67321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🌊 BFS (너비 우선 탐색)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Breadth-First Search — 가까운 노드부터 탐색 (큐 사용)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순서: 1→2→3→4→5→6→7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02920" y="176479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시작 노드를 큐에 넣고 방문 표시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큐에서 노드를 꺼내 출력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035808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02920" y="3081528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인접한 미방문 노드를 모두 큐에 추가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694176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02920" y="3739896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큐가 빌 때까지 ②③ 반복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44074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도구: Queue (큐)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활용: 최단 경로, SNS 친구 추천, 지도 길찾기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0" y="1188720"/>
            <a:ext cx="4206240" cy="3657600"/>
          </a:xfrm>
          <a:prstGeom prst="rect">
            <a:avLst/>
          </a:prstGeom>
          <a:solidFill>
            <a:srgbClr val="CFFAFE"/>
          </a:solidFill>
          <a:ln w="1905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572000" y="121615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891B2"/>
                </a:solidFill>
              </a:rPr>
              <a:t>BFS 탐색 순서 (숫자 = 방문 순서)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 flipH="1">
            <a:off x="5768236" y="1783080"/>
            <a:ext cx="861164" cy="788670"/>
          </a:xfrm>
          <a:prstGeom prst="line">
            <a:avLst/>
          </a:prstGeom>
          <a:noFill/>
          <a:ln w="317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629400" y="1783080"/>
            <a:ext cx="914400" cy="822960"/>
          </a:xfrm>
          <a:prstGeom prst="line">
            <a:avLst/>
          </a:prstGeom>
          <a:noFill/>
          <a:ln w="317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 flipH="1">
            <a:off x="5158844" y="2606040"/>
            <a:ext cx="556156" cy="996696"/>
          </a:xfrm>
          <a:prstGeom prst="line">
            <a:avLst/>
          </a:prstGeom>
          <a:noFill/>
          <a:ln w="317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715000" y="2606040"/>
            <a:ext cx="594360" cy="960120"/>
          </a:xfrm>
          <a:prstGeom prst="line">
            <a:avLst/>
          </a:prstGeom>
          <a:noFill/>
          <a:ln w="317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7543800" y="2606040"/>
            <a:ext cx="0" cy="960120"/>
          </a:xfrm>
          <a:prstGeom prst="line">
            <a:avLst/>
          </a:prstGeom>
          <a:noFill/>
          <a:ln w="317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7543800" y="2606040"/>
            <a:ext cx="594360" cy="960120"/>
          </a:xfrm>
          <a:prstGeom prst="line">
            <a:avLst/>
          </a:prstGeom>
          <a:noFill/>
          <a:ln w="317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355080" y="1508760"/>
            <a:ext cx="548640" cy="5486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355080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12280" y="1371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440680" y="2331720"/>
            <a:ext cx="548640" cy="5486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440680" y="2331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89788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269480" y="2331720"/>
            <a:ext cx="548640" cy="5486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7269480" y="2331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4846320" y="3291840"/>
            <a:ext cx="548640" cy="5486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4846320" y="3291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303520" y="3154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6035040" y="3291840"/>
            <a:ext cx="548640" cy="5486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035040" y="3291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92240" y="3154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6675120" y="3291840"/>
            <a:ext cx="548640" cy="5486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6675120" y="3291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132320" y="3154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7863840" y="3291840"/>
            <a:ext cx="548640" cy="5486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7863840" y="3291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321040" y="3154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4663440" y="4114800"/>
            <a:ext cx="3977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4663440" y="4114800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Queue: [ 1 → 2 → 3 → 4 → 5 → 6 → 7 ]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2" name="Picture 4" descr="DFS vs BFS">
            <a:extLst>
              <a:ext uri="{FF2B5EF4-FFF2-40B4-BE49-F238E27FC236}">
                <a16:creationId xmlns:a16="http://schemas.microsoft.com/office/drawing/2014/main" id="{9EE4F33F-6B68-734B-4E64-AECB11DF3C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044" y="327660"/>
            <a:ext cx="8306899" cy="3455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5F8CA60-CCC1-680E-A391-93897095135A}"/>
              </a:ext>
            </a:extLst>
          </p:cNvPr>
          <p:cNvSpPr txBox="1"/>
          <p:nvPr/>
        </p:nvSpPr>
        <p:spPr>
          <a:xfrm>
            <a:off x="1028700" y="3886200"/>
            <a:ext cx="361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BFS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B071B3-0115-8CDB-7D85-D5053D90615E}"/>
              </a:ext>
            </a:extLst>
          </p:cNvPr>
          <p:cNvSpPr txBox="1"/>
          <p:nvPr/>
        </p:nvSpPr>
        <p:spPr>
          <a:xfrm>
            <a:off x="5875020" y="3853934"/>
            <a:ext cx="361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DFS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074E8-7485-D4DA-256C-9A64A4E9686C}"/>
              </a:ext>
            </a:extLst>
          </p:cNvPr>
          <p:cNvSpPr txBox="1"/>
          <p:nvPr/>
        </p:nvSpPr>
        <p:spPr>
          <a:xfrm>
            <a:off x="1274445" y="4446508"/>
            <a:ext cx="47434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https://www.youtube.com/shorts/umHJzlKFGlU</a:t>
            </a:r>
            <a:r>
              <a:rPr lang="ko-KR" altLang="en-US" dirty="0"/>
              <a:t> </a:t>
            </a:r>
            <a:r>
              <a:rPr lang="en-US" altLang="ko-KR" dirty="0"/>
              <a:t>-&gt;BFS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9646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🔍 DFS (깊이 우선 탐색)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Depth-First Search — 최대한 깊이 파고들며 탐색 (스택/재귀 사용)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순서: 1→2→4→5→3→6→7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02920" y="176479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시작 노드 방문, 스택에 넣기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인접한 미방문 노드로 이동 (깊이 우선)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035808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02920" y="3081528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더 이상 갈 곳 없으면 되돌아감 (백트랙)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694176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02920" y="3739896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모든 노드 방문 시 종료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4370832"/>
            <a:ext cx="393192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7200" y="440740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큐 | 너비 우선  /  </a:t>
            </a: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스택/재귀 | 깊이 우선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1216152"/>
            <a:ext cx="4206240" cy="3657600"/>
          </a:xfrm>
          <a:prstGeom prst="rect">
            <a:avLst/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572000" y="121615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</a:rPr>
              <a:t>DFS 탐색 순서 (숫자 = 방문 순서)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flipH="1">
            <a:off x="5715000" y="1783080"/>
            <a:ext cx="914400" cy="82296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6629400" y="1783080"/>
            <a:ext cx="914400" cy="82296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 flipH="1">
            <a:off x="5166360" y="2606040"/>
            <a:ext cx="548640" cy="996696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715000" y="2606040"/>
            <a:ext cx="594360" cy="96012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 flipH="1">
            <a:off x="6949440" y="2606040"/>
            <a:ext cx="594360" cy="96012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7543800" y="2606040"/>
            <a:ext cx="594360" cy="96012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355080" y="150876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355080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12280" y="1371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5440680" y="233172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5440680" y="2331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947672" y="23271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7269480" y="233172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7269480" y="2331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72668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dirty="0"/>
          </a:p>
        </p:txBody>
      </p:sp>
      <p:sp>
        <p:nvSpPr>
          <p:cNvPr id="34" name="Shape 32"/>
          <p:cNvSpPr/>
          <p:nvPr/>
        </p:nvSpPr>
        <p:spPr>
          <a:xfrm>
            <a:off x="4846320" y="329184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846320" y="3291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303520" y="3154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6035040" y="329184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6035040" y="3291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492240" y="3154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6675120" y="329184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675120" y="3291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132320" y="3154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7863840" y="329184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7863840" y="3291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8321040" y="3154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4663440" y="4114800"/>
            <a:ext cx="3977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4663440" y="4114800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 경로: 1→2→4↩→5↩→↩3→6↩→7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DA8352-8EA7-D6E7-1286-6A5D57206806}"/>
              </a:ext>
            </a:extLst>
          </p:cNvPr>
          <p:cNvSpPr txBox="1"/>
          <p:nvPr/>
        </p:nvSpPr>
        <p:spPr>
          <a:xfrm>
            <a:off x="1973580" y="4290745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2"/>
              </a:rPr>
              <a:t>https://www.youtube.com/shorts/1-elk8F8_UM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비교</a:t>
            </a:r>
          </a:p>
        </p:txBody>
      </p:sp>
      <p:pic>
        <p:nvPicPr>
          <p:cNvPr id="4" name="Picture 4" descr="DFS vs BFS">
            <a:extLst>
              <a:ext uri="{FF2B5EF4-FFF2-40B4-BE49-F238E27FC236}">
                <a16:creationId xmlns:a16="http://schemas.microsoft.com/office/drawing/2014/main" id="{B5BB0A5F-979C-1F3D-10A6-FF5E9B203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044" y="327660"/>
            <a:ext cx="8306899" cy="3455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BE1E2D-B6BF-9B1C-CBFC-164460473DEA}"/>
              </a:ext>
            </a:extLst>
          </p:cNvPr>
          <p:cNvSpPr txBox="1"/>
          <p:nvPr/>
        </p:nvSpPr>
        <p:spPr>
          <a:xfrm>
            <a:off x="556260" y="3622239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4"/>
              </a:rPr>
              <a:t>https://www.youtube.com/shorts/5Kl3L3kdGbs</a:t>
            </a:r>
            <a:r>
              <a:rPr lang="ko-KR" altLang="en-US" dirty="0"/>
              <a:t> </a:t>
            </a:r>
            <a:r>
              <a:rPr lang="en-US" altLang="ko-KR" dirty="0"/>
              <a:t>-&gt; DFS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606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69EFB-35BF-70BC-0C4B-A6F676D0C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2" name="Picture 4" descr="DFS vs BFS">
            <a:extLst>
              <a:ext uri="{FF2B5EF4-FFF2-40B4-BE49-F238E27FC236}">
                <a16:creationId xmlns:a16="http://schemas.microsoft.com/office/drawing/2014/main" id="{CD81FB94-980E-61A4-B99B-CC7870B371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044" y="327660"/>
            <a:ext cx="8306899" cy="3455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BAD0240-FD44-AC1B-55DF-4CFDF49BE7C9}"/>
              </a:ext>
            </a:extLst>
          </p:cNvPr>
          <p:cNvSpPr txBox="1"/>
          <p:nvPr/>
        </p:nvSpPr>
        <p:spPr>
          <a:xfrm>
            <a:off x="1028700" y="3886200"/>
            <a:ext cx="361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BFS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779D39-E2B9-4876-F1BF-18447C995609}"/>
              </a:ext>
            </a:extLst>
          </p:cNvPr>
          <p:cNvSpPr txBox="1"/>
          <p:nvPr/>
        </p:nvSpPr>
        <p:spPr>
          <a:xfrm>
            <a:off x="5875020" y="3853934"/>
            <a:ext cx="361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DFS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80498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🔙 Backtracking (백트래킹)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가능한 모든 경우를 탐색하되, 불가능하면 즉시 되돌아간다!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미로찾기로 이해하기 🗺️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664208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앞으로 가다가 </a:t>
            </a: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막히면 돌아오기!
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DFS + 조건 검사 (가지치기)
→ 불가능한 경우를 빠르게 제거
→ 완전 탐색보다 훨씬 빠름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65760" y="2743200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365760" y="27432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선택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27432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가능한 선택지 중 하나를 고른다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264408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65760" y="3264408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65760" y="3264408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탐색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26440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선택으로 DFS 탐색한다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785616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365760" y="3785616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365760" y="3785616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판단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88720" y="378561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조건을 만족하는지 확인한다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306824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365760" y="4306824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365760" y="4306824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백트랙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4306824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불가능하면 이전 상태로 돌아간다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86613" y="1261872"/>
            <a:ext cx="4206240" cy="3657600"/>
          </a:xfrm>
          <a:prstGeom prst="rect">
            <a:avLst/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4869493" y="126187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</a:rPr>
              <a:t>백트래킹 탐색 트리 (가지치기)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98293" y="1554480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698293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시작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26893" y="1783080"/>
            <a:ext cx="0" cy="77724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5372413" y="2331720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280973" y="24231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A=1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 flipH="1">
            <a:off x="5780762" y="1783080"/>
            <a:ext cx="1146130" cy="695696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698293" y="2331720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606853" y="24231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A=2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926893" y="1783080"/>
            <a:ext cx="1325880" cy="77724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8024173" y="2331720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7932733" y="24231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A=3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 flipH="1">
            <a:off x="5006653" y="2770632"/>
            <a:ext cx="426511" cy="658368"/>
          </a:xfrm>
          <a:prstGeom prst="line">
            <a:avLst/>
          </a:prstGeom>
          <a:noFill/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" name="Shape 36"/>
          <p:cNvSpPr/>
          <p:nvPr/>
        </p:nvSpPr>
        <p:spPr>
          <a:xfrm>
            <a:off x="4759765" y="3227832"/>
            <a:ext cx="402336" cy="40233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4759765" y="32278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748930" y="364689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C2626"/>
                </a:solidFill>
              </a:rPr>
              <a:t>B=1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616043" y="2707376"/>
            <a:ext cx="76409" cy="749056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5491285" y="3227832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5372413" y="36347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0000"/>
                </a:solidFill>
              </a:rPr>
              <a:t>B=2</a:t>
            </a:r>
          </a:p>
        </p:txBody>
      </p:sp>
      <p:sp>
        <p:nvSpPr>
          <p:cNvPr id="44" name="Shape 42"/>
          <p:cNvSpPr/>
          <p:nvPr/>
        </p:nvSpPr>
        <p:spPr>
          <a:xfrm>
            <a:off x="5704227" y="2670048"/>
            <a:ext cx="719746" cy="758952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6222805" y="3227832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6134622" y="362403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0000"/>
                </a:solidFill>
              </a:rPr>
              <a:t>B=3</a:t>
            </a:r>
          </a:p>
        </p:txBody>
      </p:sp>
      <p:sp>
        <p:nvSpPr>
          <p:cNvPr id="47" name="Shape 45"/>
          <p:cNvSpPr/>
          <p:nvPr/>
        </p:nvSpPr>
        <p:spPr>
          <a:xfrm>
            <a:off x="6957581" y="2715768"/>
            <a:ext cx="289351" cy="713232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7045765" y="3227832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6957582" y="362403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0000"/>
                </a:solidFill>
              </a:rPr>
              <a:t>B=1</a:t>
            </a:r>
          </a:p>
        </p:txBody>
      </p:sp>
      <p:sp>
        <p:nvSpPr>
          <p:cNvPr id="50" name="Shape 48"/>
          <p:cNvSpPr/>
          <p:nvPr/>
        </p:nvSpPr>
        <p:spPr>
          <a:xfrm>
            <a:off x="4960933" y="4197848"/>
            <a:ext cx="3977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5139742" y="4238244"/>
            <a:ext cx="274320" cy="2743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5143813" y="43525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399845" y="4233672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가지치기 (Pruning) — 탐색 중단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143813" y="4553712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5143813" y="455371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463853" y="457200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계속 탐색 (Valid path)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DC00198-F891-D5ED-E5CC-59C07F650115}"/>
              </a:ext>
            </a:extLst>
          </p:cNvPr>
          <p:cNvSpPr txBox="1"/>
          <p:nvPr/>
        </p:nvSpPr>
        <p:spPr>
          <a:xfrm>
            <a:off x="4758690" y="4490919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2"/>
              </a:rPr>
              <a:t>https://www.youtube.com/shorts/ULEtQ-OwFMQ</a:t>
            </a:r>
            <a:r>
              <a:rPr lang="ko-KR" altLang="en-US" dirty="0"/>
              <a:t> </a:t>
            </a:r>
            <a:r>
              <a:rPr lang="ko-KR" altLang="en-US" dirty="0" err="1"/>
              <a:t>미로찾기</a:t>
            </a:r>
            <a:r>
              <a:rPr lang="ko-KR" altLang="en-US" dirty="0"/>
              <a:t> </a:t>
            </a:r>
            <a:r>
              <a:rPr lang="en-US" altLang="ko-KR" dirty="0"/>
              <a:t>BT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0183EE-CE08-8DA5-3313-C566D6A8CA3A}"/>
              </a:ext>
            </a:extLst>
          </p:cNvPr>
          <p:cNvSpPr txBox="1"/>
          <p:nvPr/>
        </p:nvSpPr>
        <p:spPr>
          <a:xfrm>
            <a:off x="582930" y="4047411"/>
            <a:ext cx="288417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https://www.youtube.com/shorts/hq3U5VE3MPY</a:t>
            </a:r>
            <a:r>
              <a:rPr lang="ko-KR" altLang="en-US" dirty="0"/>
              <a:t> </a:t>
            </a:r>
            <a:r>
              <a:rPr lang="en-US" altLang="ko-KR" dirty="0"/>
              <a:t>N-Queen BT</a:t>
            </a:r>
            <a:endParaRPr lang="ko-KR" altLang="en-US" dirty="0"/>
          </a:p>
        </p:txBody>
      </p:sp>
      <p:pic>
        <p:nvPicPr>
          <p:cNvPr id="8196" name="Picture 4" descr="Backtracking Algorithm Common Patterns and Code Template">
            <a:extLst>
              <a:ext uri="{FF2B5EF4-FFF2-40B4-BE49-F238E27FC236}">
                <a16:creationId xmlns:a16="http://schemas.microsoft.com/office/drawing/2014/main" id="{182D22E4-F3DA-EC4D-77AD-FF3480A41E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217" y="406359"/>
            <a:ext cx="6520603" cy="3667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48806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🗺️ Dijkstra (다익스트라)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가중치 그래프에서 최단 경로를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찾는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알고리즘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BFS</a:t>
            </a:r>
            <a:r>
              <a:rPr lang="ko-KR" alt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랑 거의 동일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알고리즘 동작 방식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3931920" cy="566928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</a:rPr>
              <a:t>①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7373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 노드 거리 = 0, 나머지 = ∞. </a:t>
            </a:r>
            <a:r>
              <a:rPr lang="ko-KR" alt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큐</a:t>
            </a:r>
            <a:r>
              <a:rPr lang="en-US" altLang="ko-KR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ko-KR" alt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또는 </a:t>
            </a:r>
            <a:r>
              <a:rPr lang="en-US" altLang="ko-KR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PQ)</a:t>
            </a:r>
            <a:r>
              <a:rPr lang="ko-KR" alt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 </a:t>
            </a:r>
            <a:r>
              <a:rPr lang="ko-KR" altLang="en-US" sz="11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시작노드</a:t>
            </a:r>
            <a:r>
              <a:rPr lang="ko-KR" alt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삽입</a:t>
            </a:r>
            <a:r>
              <a:rPr lang="en-US" altLang="ko-KR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350008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239572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</a:rPr>
              <a:t>②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04672" y="239572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150" dirty="0"/>
              <a:t>큐에서 가장 작은 이동거리 </a:t>
            </a:r>
            <a:r>
              <a:rPr lang="en-US" altLang="ko-KR" sz="1150" dirty="0"/>
              <a:t>POP, </a:t>
            </a:r>
            <a:r>
              <a:rPr lang="ko-KR" altLang="en-US" sz="1150" dirty="0"/>
              <a:t>인접 노드 확인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3008376"/>
            <a:ext cx="3931920" cy="566928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3054096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A580C"/>
                </a:solidFill>
              </a:rPr>
              <a:t>③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4672" y="3054096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150" dirty="0"/>
              <a:t>큐에서 뽑은 거리가 다음 노드까지의 거리보다 작다면</a:t>
            </a:r>
            <a:r>
              <a:rPr lang="en-US" altLang="ko-KR" sz="1150" dirty="0"/>
              <a:t>, </a:t>
            </a:r>
            <a:r>
              <a:rPr lang="ko-KR" altLang="en-US" sz="1150" dirty="0"/>
              <a:t>갱신 후 큐에 </a:t>
            </a:r>
            <a:r>
              <a:rPr lang="ko-KR" altLang="en-US" sz="1150" dirty="0" err="1"/>
              <a:t>다음노드</a:t>
            </a:r>
            <a:r>
              <a:rPr lang="ko-KR" altLang="en-US" sz="1150" dirty="0"/>
              <a:t> 삽입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" y="3666744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57200" y="3712464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</a:rPr>
              <a:t>④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3712464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노드 방문 시 </a:t>
            </a:r>
            <a:r>
              <a:rPr lang="en-US" sz="11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ko-KR" altLang="en-US" sz="11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시작노드</a:t>
            </a:r>
            <a:r>
              <a:rPr lang="en-US" altLang="ko-KR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1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목표노드</a:t>
            </a:r>
            <a:r>
              <a:rPr lang="ko-KR" alt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최단거리 완성</a:t>
            </a:r>
            <a:r>
              <a:rPr lang="en-US" altLang="ko-KR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3931920" cy="502920"/>
          </a:xfrm>
          <a:prstGeom prst="rect">
            <a:avLst/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57200" y="4370832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도구: Priority Queue (우선순위 큐)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시간복잡도: O((V+E) log V)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0" y="121615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97706"/>
                </a:solidFill>
              </a:rPr>
              <a:t>다익스트라 시각화 (A에서 시작)</a:t>
            </a:r>
            <a:endParaRPr lang="en-US" sz="1100" dirty="0"/>
          </a:p>
        </p:txBody>
      </p:sp>
      <p:pic>
        <p:nvPicPr>
          <p:cNvPr id="1028" name="Picture 4" descr="알고리즘] Dijkstra Algorithm (다익스트라 알고리즘)">
            <a:extLst>
              <a:ext uri="{FF2B5EF4-FFF2-40B4-BE49-F238E27FC236}">
                <a16:creationId xmlns:a16="http://schemas.microsoft.com/office/drawing/2014/main" id="{BE9AC4C5-D772-248A-331A-DE590B9233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0832" y="1610609"/>
            <a:ext cx="4489356" cy="2313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42F983C2-CEC1-699B-B42F-1091159823EA}"/>
              </a:ext>
            </a:extLst>
          </p:cNvPr>
          <p:cNvSpPr txBox="1"/>
          <p:nvPr/>
        </p:nvSpPr>
        <p:spPr>
          <a:xfrm>
            <a:off x="4511040" y="4139339"/>
            <a:ext cx="42565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4"/>
              </a:rPr>
              <a:t>https://www.youtube.com/shorts/XFE3XkWERnI</a:t>
            </a:r>
            <a:r>
              <a:rPr lang="ko-KR" altLang="en-US" dirty="0"/>
              <a:t>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8B6AB4C1-F617-7390-CF4F-9DC22610A9A6}"/>
              </a:ext>
            </a:extLst>
          </p:cNvPr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1E293B"/>
                </a:solidFill>
                <a:latin typeface="Arial Black" pitchFamily="34" charset="0"/>
              </a:rPr>
              <a:t>오늘의 문제</a:t>
            </a:r>
            <a:endParaRPr lang="en-US" sz="3000" dirty="0"/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0C060D7D-6C48-B00C-3369-9CD1AEDF87FD}"/>
              </a:ext>
            </a:extLst>
          </p:cNvPr>
          <p:cNvSpPr/>
          <p:nvPr/>
        </p:nvSpPr>
        <p:spPr>
          <a:xfrm>
            <a:off x="502920" y="87325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DC2626"/>
                </a:solidFill>
              </a:rPr>
              <a:t>스택 </a:t>
            </a:r>
            <a:r>
              <a:rPr lang="en-US" altLang="ko-KR" sz="1200" b="1" dirty="0">
                <a:solidFill>
                  <a:srgbClr val="DC2626"/>
                </a:solidFill>
              </a:rPr>
              <a:t>: </a:t>
            </a:r>
            <a:r>
              <a:rPr lang="en-US" sz="1200" b="1" dirty="0">
                <a:solidFill>
                  <a:srgbClr val="DC2626"/>
                </a:solidFill>
              </a:rPr>
              <a:t>. BOJ 9012 (</a:t>
            </a:r>
            <a:r>
              <a:rPr lang="ko-KR" altLang="en-US" sz="1200" b="1" dirty="0">
                <a:solidFill>
                  <a:srgbClr val="DC2626"/>
                </a:solidFill>
              </a:rPr>
              <a:t>괄호</a:t>
            </a:r>
            <a:r>
              <a:rPr lang="en-US" altLang="ko-KR" sz="1200" b="1" dirty="0">
                <a:solidFill>
                  <a:srgbClr val="DC2626"/>
                </a:solidFill>
              </a:rPr>
              <a:t>) </a:t>
            </a:r>
            <a:r>
              <a:rPr lang="en-US" sz="1200" b="1" dirty="0">
                <a:solidFill>
                  <a:srgbClr val="DC2626"/>
                </a:solidFill>
              </a:rPr>
              <a:t> </a:t>
            </a:r>
            <a:endParaRPr lang="en-US" sz="12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5113FF3-D9FF-B4DE-F75A-FBF434FBC346}"/>
              </a:ext>
            </a:extLst>
          </p:cNvPr>
          <p:cNvSpPr/>
          <p:nvPr/>
        </p:nvSpPr>
        <p:spPr>
          <a:xfrm>
            <a:off x="365760" y="1334022"/>
            <a:ext cx="5740678" cy="594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solidFill>
                  <a:schemeClr val="bg1"/>
                </a:solidFill>
              </a:rPr>
              <a:t>스택 </a:t>
            </a:r>
            <a:r>
              <a:rPr lang="en-US" altLang="ko-KR" b="1" dirty="0">
                <a:solidFill>
                  <a:schemeClr val="bg1"/>
                </a:solidFill>
              </a:rPr>
              <a:t>:  BOJ 9012 </a:t>
            </a:r>
            <a:r>
              <a:rPr lang="ko-KR" altLang="en-US" b="1" dirty="0">
                <a:solidFill>
                  <a:schemeClr val="bg1"/>
                </a:solidFill>
              </a:rPr>
              <a:t>괄호</a:t>
            </a:r>
            <a:r>
              <a:rPr lang="en-US" altLang="ko-KR" b="1" dirty="0">
                <a:solidFill>
                  <a:schemeClr val="bg1"/>
                </a:solidFill>
              </a:rPr>
              <a:t>, 9935 </a:t>
            </a:r>
            <a:r>
              <a:rPr lang="ko-KR" altLang="en-US" b="1" dirty="0">
                <a:solidFill>
                  <a:schemeClr val="bg1"/>
                </a:solidFill>
              </a:rPr>
              <a:t>문자열 폭발</a:t>
            </a:r>
            <a:r>
              <a:rPr lang="en-US" altLang="ko-KR" b="1" dirty="0">
                <a:solidFill>
                  <a:schemeClr val="bg1"/>
                </a:solidFill>
              </a:rPr>
              <a:t> </a:t>
            </a:r>
            <a:endParaRPr lang="en-US" altLang="ko-KR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FFC17A7-1542-310E-3C11-9063E17FC0E1}"/>
              </a:ext>
            </a:extLst>
          </p:cNvPr>
          <p:cNvSpPr/>
          <p:nvPr/>
        </p:nvSpPr>
        <p:spPr>
          <a:xfrm>
            <a:off x="365759" y="2041680"/>
            <a:ext cx="5690575" cy="594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solidFill>
                  <a:schemeClr val="bg1"/>
                </a:solidFill>
              </a:rPr>
              <a:t>재귀 </a:t>
            </a:r>
            <a:r>
              <a:rPr lang="en-US" altLang="ko-KR" b="1" dirty="0">
                <a:solidFill>
                  <a:schemeClr val="bg1"/>
                </a:solidFill>
              </a:rPr>
              <a:t>: 11729 </a:t>
            </a:r>
            <a:r>
              <a:rPr lang="ko-KR" altLang="en-US" b="1" dirty="0">
                <a:solidFill>
                  <a:schemeClr val="bg1"/>
                </a:solidFill>
              </a:rPr>
              <a:t>하노이 탑 이동 순서</a:t>
            </a:r>
            <a:r>
              <a:rPr lang="en-US" altLang="ko-KR" b="1" dirty="0">
                <a:solidFill>
                  <a:schemeClr val="bg1"/>
                </a:solidFill>
              </a:rPr>
              <a:t>, 5639 </a:t>
            </a:r>
            <a:r>
              <a:rPr lang="ko-KR" altLang="en-US" b="1" dirty="0">
                <a:solidFill>
                  <a:schemeClr val="bg1"/>
                </a:solidFill>
              </a:rPr>
              <a:t>이진 검색 트리</a:t>
            </a:r>
            <a:endParaRPr lang="en-US" altLang="ko-KR" dirty="0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0CECBE2-FC8D-B5A6-FC95-16EDB84E2F34}"/>
              </a:ext>
            </a:extLst>
          </p:cNvPr>
          <p:cNvSpPr/>
          <p:nvPr/>
        </p:nvSpPr>
        <p:spPr>
          <a:xfrm>
            <a:off x="365758" y="2749338"/>
            <a:ext cx="5690575" cy="594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b="1" dirty="0">
                <a:solidFill>
                  <a:schemeClr val="bg1"/>
                </a:solidFill>
              </a:rPr>
              <a:t>BFS,DFS : 2667 </a:t>
            </a:r>
            <a:r>
              <a:rPr lang="ko-KR" altLang="en-US" b="1" dirty="0" err="1">
                <a:solidFill>
                  <a:schemeClr val="bg1"/>
                </a:solidFill>
              </a:rPr>
              <a:t>단지번호붙이기</a:t>
            </a:r>
            <a:r>
              <a:rPr lang="en-US" altLang="ko-KR" b="1" dirty="0">
                <a:solidFill>
                  <a:schemeClr val="bg1"/>
                </a:solidFill>
              </a:rPr>
              <a:t>, 14502 </a:t>
            </a:r>
            <a:r>
              <a:rPr lang="ko-KR" altLang="en-US" b="1" dirty="0">
                <a:solidFill>
                  <a:schemeClr val="bg1"/>
                </a:solidFill>
              </a:rPr>
              <a:t>연구소</a:t>
            </a:r>
            <a:endParaRPr lang="en-US" altLang="ko-KR" b="1" dirty="0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B936A83-1B16-48B9-1897-F387DB85A831}"/>
              </a:ext>
            </a:extLst>
          </p:cNvPr>
          <p:cNvSpPr/>
          <p:nvPr/>
        </p:nvSpPr>
        <p:spPr>
          <a:xfrm>
            <a:off x="415863" y="3496098"/>
            <a:ext cx="5690575" cy="594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>
                <a:solidFill>
                  <a:schemeClr val="bg1"/>
                </a:solidFill>
              </a:rPr>
              <a:t>백트랙킹</a:t>
            </a:r>
            <a:r>
              <a:rPr lang="en-US" altLang="ko-KR" b="1" dirty="0">
                <a:solidFill>
                  <a:schemeClr val="bg1"/>
                </a:solidFill>
              </a:rPr>
              <a:t>, </a:t>
            </a:r>
            <a:r>
              <a:rPr lang="en-US" altLang="ko-KR" b="1">
                <a:solidFill>
                  <a:schemeClr val="bg1"/>
                </a:solidFill>
              </a:rPr>
              <a:t>Djikstra</a:t>
            </a:r>
            <a:r>
              <a:rPr lang="en-US" altLang="ko-KR" b="1" dirty="0">
                <a:solidFill>
                  <a:schemeClr val="bg1"/>
                </a:solidFill>
              </a:rPr>
              <a:t> : 1753 : </a:t>
            </a:r>
            <a:r>
              <a:rPr lang="ko-KR" altLang="en-US" b="1" dirty="0">
                <a:solidFill>
                  <a:schemeClr val="bg1"/>
                </a:solidFill>
              </a:rPr>
              <a:t>최단경로</a:t>
            </a:r>
            <a:r>
              <a:rPr lang="en-US" altLang="ko-KR" b="1" dirty="0">
                <a:solidFill>
                  <a:schemeClr val="bg1"/>
                </a:solidFill>
              </a:rPr>
              <a:t>, 9663 N-Queen</a:t>
            </a:r>
          </a:p>
        </p:txBody>
      </p:sp>
    </p:spTree>
    <p:extLst>
      <p:ext uri="{BB962C8B-B14F-4D97-AF65-F5344CB8AC3E}">
        <p14:creationId xmlns:p14="http://schemas.microsoft.com/office/powerpoint/2010/main" val="1929481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1070</Words>
  <Application>Microsoft Office PowerPoint</Application>
  <PresentationFormat>화면 슬라이드 쇼(16:9)</PresentationFormat>
  <Paragraphs>232</Paragraphs>
  <Slides>19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4" baseType="lpstr">
      <vt:lpstr>Arial</vt:lpstr>
      <vt:lpstr>Arial Black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실전 자료구조 &amp; 알고리즘 - 1차시</dc:title>
  <dc:subject>PptxGenJS Presentation</dc:subject>
  <dc:creator>PptxGenJS</dc:creator>
  <cp:lastModifiedBy>양하정</cp:lastModifiedBy>
  <cp:revision>3</cp:revision>
  <dcterms:created xsi:type="dcterms:W3CDTF">2026-03-18T11:02:38Z</dcterms:created>
  <dcterms:modified xsi:type="dcterms:W3CDTF">2026-03-18T12:11:03Z</dcterms:modified>
</cp:coreProperties>
</file>